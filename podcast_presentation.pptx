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energy. Frame the episode: this is not more model drama — it's a practical field guide. Tell the audience the through-line up front: every intelligence jump forces two moves — unlearn old prompting habits, and raise ambition until the real limits show up. Mention Fable 5 and GPT-5.6 Sol as the current frontier pair.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slide. Pause. Let people read. From the episode: tips converge in two directions — stale rule lists, brevity hacks, and maxed settings backfire on more tenacious models; the real unlock is higher ambition and new patterns like loops. Audience should feel: 'I need to change how I work, not just what I type.'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NLW opens by noting everyone now has Fable 5 and GPT-5.6 Sol, and tips are flooding in. Emphasize that this knowledge isn't in leaderboards — it comes from practice. The right-side card drives urgency: the models changed; most workflows didn't. Audience should feel slightly called out, then curious.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as the first hard landing. Eric's point: people still prompt 5.6 Sol exactly like 5.5. Tenacity means the model will push further, explore more, and take more agency — which is power and risk. Audience should rethink 'set it and forget it' prompting.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as consequence, right as tactics from Eric's learn.chatgpt.com guide. Call out Steer vs Queue as the collaboration latency win when Codex behaviors land in ChatGPT. Audience should leave with 1–2 boundaries they'll add to their next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Ollie Lehmann's summary of OpenAI's GPT-5.6 best practices. State each instruction exactly once — giant rule lists written for older models make answers worse and cost more. Tie the third card forward: effort is a dial you will use, not a vanity setting. Audience should want to open their system prompt tonight.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emotional point: everyone wants to crank to max. OpenAI's advice is counterintuitive — try one level lower. Walk Sol/Terra/Luna quickly. Audience should leave knowing they have two knobs, not one 'smartest' button.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punch slide. NLW calls this emotionally hard advice. Hold silence after the headline. Then: outside of cost, overthinking can degrade outcomes. Transition: if settings aren't the unlock, ambition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ambition. Christine cleared little tasks for months, then used Fable for work she didn't trust Claude with before — and that was the leap. Quote Shreyas Doshi's three levels briefly as setup for the next slide. Audience should audit what % of their AI use is dopamine vs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Christine's framework: optics → Claude as autopilot (Cowork scheduled status sheets); execution → co-pilot skills (Context Dump, Jira/roadmap, support themes); impact → sparring partner with a personal context portfolio. Automate optics ruthlessly so you stay in flow for impact. Audience should assign their next three AI tasks to a mode.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map vs territory: prompts/skills/context are the map; codebase and constraints are the territory. Unknowns force guesses. Working with Fable is discovering unknowns before, during, and after implementation — blind spot passes, brainstorm-and-prototype. Audience should feel responsible for clarifying, not just assigning.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 Tariq's four unknowns with Daniel Meissler's tactical meta-prompts. Too specific → over-follow; too vague → generic best practices. Self-model audit quote idea: flag where the system optimizes for who you said you were. Audience should schedule a harness cleanup on the next model drop.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Matt Schumer's tip. Vague 'high quality' stops at the model's too-low good enough. Concrete bars + /loop. The whole point: Fable never gets to decide it's finished. Audience should rewrite one quality adjective into a checkable test before the next creative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Claude Devs post NLW cites. Emphasize goal-based: defining success criteria stops early exits; an evaluator model sends work back. Preview: next months of exploration will push loops into creative and knowledge work. Audience should pick one recurring task for a time-based or proactive loop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individual → organizational analogy. Default is accelerating known work; the prize is unlocking new work. Harder, more exciting. Set up the takeaways as the personal and team checklist. Audience should feel ambition at the org level, not just prompt craft.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without rushing. One line each. End on ambition: assume no limits, try the biggest hard things, and let real limits reveal themselves. Thank the audience; point them to the episode if they want the full source stories.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548640"/>
            <a:ext cx="2926080" cy="2926080"/>
          </a:xfrm>
          <a:prstGeom prst="ellipse">
            <a:avLst/>
          </a:prstGeom>
          <a:solidFill>
            <a:srgbClr val="16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509760" y="4937760"/>
            <a:ext cx="2194560" cy="2194560"/>
          </a:xfrm>
          <a:prstGeom prst="ellipse">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058400" cy="365760"/>
          </a:xfrm>
          <a:prstGeom prst="rect">
            <a:avLst/>
          </a:prstGeom>
          <a:noFill/>
        </p:spPr>
        <p:txBody>
          <a:bodyPr wrap="square" anchor="t"/>
          <a:lstStyle/>
          <a:p>
            <a:pPr algn="l"/>
            <a:r>
              <a:rPr sz="1400" b="1">
                <a:solidFill>
                  <a:srgbClr val="00C2A8"/>
                </a:solidFill>
                <a:latin typeface="Calibri"/>
              </a:rPr>
              <a:t>THE AI DAILY BRIEF  ·  JULY 2026</a:t>
            </a:r>
          </a:p>
        </p:txBody>
      </p:sp>
      <p:sp>
        <p:nvSpPr>
          <p:cNvPr id="6" name="TextBox 5"/>
          <p:cNvSpPr txBox="1"/>
          <p:nvPr/>
        </p:nvSpPr>
        <p:spPr>
          <a:xfrm>
            <a:off x="822960" y="1920240"/>
            <a:ext cx="10241280" cy="2011680"/>
          </a:xfrm>
          <a:prstGeom prst="rect">
            <a:avLst/>
          </a:prstGeom>
          <a:noFill/>
        </p:spPr>
        <p:txBody>
          <a:bodyPr wrap="square" anchor="t"/>
          <a:lstStyle/>
          <a:p>
            <a:pPr algn="l"/>
            <a:r>
              <a:rPr sz="4000" b="1">
                <a:solidFill>
                  <a:srgbClr val="FFFFFF"/>
                </a:solidFill>
                <a:latin typeface="Calibri"/>
              </a:rPr>
              <a:t>How to get the most out of
Fable 5 and GPT-5.6 Sol</a:t>
            </a:r>
          </a:p>
        </p:txBody>
      </p:sp>
      <p:sp>
        <p:nvSpPr>
          <p:cNvPr id="7" name="TextBox 6"/>
          <p:cNvSpPr txBox="1"/>
          <p:nvPr/>
        </p:nvSpPr>
        <p:spPr>
          <a:xfrm>
            <a:off x="822960" y="4206240"/>
            <a:ext cx="9601200" cy="914400"/>
          </a:xfrm>
          <a:prstGeom prst="rect">
            <a:avLst/>
          </a:prstGeom>
          <a:noFill/>
        </p:spPr>
        <p:txBody>
          <a:bodyPr wrap="square" anchor="t"/>
          <a:lstStyle/>
          <a:p>
            <a:pPr algn="l"/>
            <a:r>
              <a:rPr sz="1800" b="0">
                <a:solidFill>
                  <a:srgbClr val="8B95A8"/>
                </a:solidFill>
                <a:latin typeface="Calibri"/>
              </a:rPr>
              <a:t>Unlearn last-generation prompts. Raise your ambition.
Adopt new interaction patterns that unlock the leap.</a:t>
            </a:r>
          </a:p>
        </p:txBody>
      </p:sp>
      <p:sp>
        <p:nvSpPr>
          <p:cNvPr id="8" name="TextBox 7"/>
          <p:cNvSpPr txBox="1"/>
          <p:nvPr/>
        </p:nvSpPr>
        <p:spPr>
          <a:xfrm>
            <a:off x="822960" y="6126480"/>
            <a:ext cx="9144000" cy="320040"/>
          </a:xfrm>
          <a:prstGeom prst="rect">
            <a:avLst/>
          </a:prstGeom>
          <a:noFill/>
        </p:spPr>
        <p:txBody>
          <a:bodyPr wrap="square" anchor="t"/>
          <a:lstStyle/>
          <a:p>
            <a:pPr algn="l"/>
            <a:r>
              <a:rPr sz="1300" b="0">
                <a:solidFill>
                  <a:srgbClr val="5B6577"/>
                </a:solidFill>
                <a:latin typeface="Calibri"/>
              </a:rPr>
              <a:t>A field guide for frontier-model operators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94560"/>
            <a:ext cx="164592" cy="2194560"/>
          </a:xfrm>
          <a:prstGeom prst="rect">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2103120"/>
            <a:ext cx="9875520" cy="2560320"/>
          </a:xfrm>
          <a:prstGeom prst="rect">
            <a:avLst/>
          </a:prstGeom>
          <a:noFill/>
        </p:spPr>
        <p:txBody>
          <a:bodyPr wrap="square" anchor="t"/>
          <a:lstStyle/>
          <a:p>
            <a:pPr algn="l"/>
            <a:r>
              <a:rPr sz="3400" b="1">
                <a:solidFill>
                  <a:srgbClr val="FFFFFF"/>
                </a:solidFill>
                <a:latin typeface="Calibri"/>
              </a:rPr>
              <a:t>Every big model leap demands you unlearn old prompts — and raise your ambition until the limits appear.</a:t>
            </a:r>
          </a:p>
        </p:txBody>
      </p:sp>
      <p:sp>
        <p:nvSpPr>
          <p:cNvPr id="5" name="TextBox 4"/>
          <p:cNvSpPr txBox="1"/>
          <p:nvPr/>
        </p:nvSpPr>
        <p:spPr>
          <a:xfrm>
            <a:off x="1280160" y="5029200"/>
            <a:ext cx="9144000" cy="457200"/>
          </a:xfrm>
          <a:prstGeom prst="rect">
            <a:avLst/>
          </a:prstGeom>
          <a:noFill/>
        </p:spPr>
        <p:txBody>
          <a:bodyPr wrap="square" anchor="t"/>
          <a:lstStyle/>
          <a:p>
            <a:pPr algn="l"/>
            <a:r>
              <a:rPr sz="1200" b="1">
                <a:solidFill>
                  <a:srgbClr val="FF5A36"/>
                </a:solidFill>
                <a:latin typeface="Calibri"/>
              </a:rPr>
              <a:t>THE CORE ARGUMENT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515600" cy="1371600"/>
          </a:xfrm>
          <a:prstGeom prst="rect">
            <a:avLst/>
          </a:prstGeom>
          <a:noFill/>
        </p:spPr>
        <p:txBody>
          <a:bodyPr wrap="square" anchor="t"/>
          <a:lstStyle/>
          <a:p>
            <a:pPr algn="l"/>
            <a:r>
              <a:rPr sz="3600" b="1">
                <a:solidFill>
                  <a:srgbClr val="0B1220"/>
                </a:solidFill>
                <a:latin typeface="Calibri"/>
              </a:rPr>
              <a:t>Most people still prompt frontier models like last year's tools.</a:t>
            </a:r>
          </a:p>
        </p:txBody>
      </p:sp>
      <p:sp>
        <p:nvSpPr>
          <p:cNvPr id="4" name="TextBox 3"/>
          <p:cNvSpPr txBox="1"/>
          <p:nvPr/>
        </p:nvSpPr>
        <p:spPr>
          <a:xfrm>
            <a:off x="731520" y="2286000"/>
            <a:ext cx="6858000" cy="3840480"/>
          </a:xfrm>
          <a:prstGeom prst="rect">
            <a:avLst/>
          </a:prstGeom>
          <a:noFill/>
        </p:spPr>
        <p:txBody>
          <a:bodyPr wrap="square">
            <a:spAutoFit/>
          </a:bodyPr>
          <a:lstStyle/>
          <a:p>
            <a:pPr algn="l">
              <a:spcBef>
                <a:spcPts val="0"/>
              </a:spcBef>
              <a:spcAft>
                <a:spcPts val="1000"/>
              </a:spcAft>
            </a:pPr>
            <a:r>
              <a:rPr sz="2000" b="1">
                <a:solidFill>
                  <a:srgbClr val="00C2A8"/>
                </a:solidFill>
                <a:latin typeface="Calibri"/>
              </a:rPr>
              <a:t>▸  </a:t>
            </a:r>
            <a:r>
              <a:rPr sz="2000" b="0">
                <a:solidFill>
                  <a:srgbClr val="0B1220"/>
                </a:solidFill>
                <a:latin typeface="Calibri"/>
              </a:rPr>
              <a:t>Tips can't be captured in benchmarks alone</a:t>
            </a:r>
          </a:p>
          <a:p>
            <a:pPr algn="l">
              <a:spcBef>
                <a:spcPts val="800"/>
              </a:spcBef>
              <a:spcAft>
                <a:spcPts val="1000"/>
              </a:spcAft>
            </a:pPr>
            <a:r>
              <a:rPr sz="2000" b="1">
                <a:solidFill>
                  <a:srgbClr val="00C2A8"/>
                </a:solidFill>
                <a:latin typeface="Calibri"/>
              </a:rPr>
              <a:t>▸  </a:t>
            </a:r>
            <a:r>
              <a:rPr sz="2000" b="0">
                <a:solidFill>
                  <a:srgbClr val="0B1220"/>
                </a:solidFill>
                <a:latin typeface="Calibri"/>
              </a:rPr>
              <a:t>Trial and error reveals what actually works</a:t>
            </a:r>
          </a:p>
          <a:p>
            <a:pPr algn="l">
              <a:spcBef>
                <a:spcPts val="800"/>
              </a:spcBef>
              <a:spcAft>
                <a:spcPts val="1000"/>
              </a:spcAft>
            </a:pPr>
            <a:r>
              <a:rPr sz="2000" b="1">
                <a:solidFill>
                  <a:srgbClr val="00C2A8"/>
                </a:solidFill>
                <a:latin typeface="Calibri"/>
              </a:rPr>
              <a:t>▸  </a:t>
            </a:r>
            <a:r>
              <a:rPr sz="2000" b="0">
                <a:solidFill>
                  <a:srgbClr val="0B1220"/>
                </a:solidFill>
                <a:latin typeface="Calibri"/>
              </a:rPr>
              <a:t>Common threads span Fable 5 and 5.6 Sol</a:t>
            </a:r>
          </a:p>
          <a:p>
            <a:pPr algn="l">
              <a:spcBef>
                <a:spcPts val="800"/>
              </a:spcBef>
              <a:spcAft>
                <a:spcPts val="1000"/>
              </a:spcAft>
            </a:pPr>
            <a:r>
              <a:rPr sz="2000" b="1">
                <a:solidFill>
                  <a:srgbClr val="00C2A8"/>
                </a:solidFill>
                <a:latin typeface="Calibri"/>
              </a:rPr>
              <a:t>▸  </a:t>
            </a:r>
            <a:r>
              <a:rPr sz="2000" b="0">
                <a:solidFill>
                  <a:srgbClr val="0B1220"/>
                </a:solidFill>
                <a:latin typeface="Calibri"/>
              </a:rPr>
              <a:t>New interaction patterns are already emerging</a:t>
            </a:r>
          </a:p>
          <a:p>
            <a:pPr algn="l">
              <a:spcBef>
                <a:spcPts val="800"/>
              </a:spcBef>
              <a:spcAft>
                <a:spcPts val="1000"/>
              </a:spcAft>
            </a:pPr>
            <a:r>
              <a:rPr sz="2000" b="1">
                <a:solidFill>
                  <a:srgbClr val="00C2A8"/>
                </a:solidFill>
                <a:latin typeface="Calibri"/>
              </a:rPr>
              <a:t>▸  </a:t>
            </a:r>
            <a:r>
              <a:rPr sz="2000" b="0">
                <a:solidFill>
                  <a:srgbClr val="0B1220"/>
                </a:solidFill>
                <a:latin typeface="Calibri"/>
              </a:rPr>
              <a:t>Old habits often actively hurt performance</a:t>
            </a:r>
          </a:p>
        </p:txBody>
      </p:sp>
      <p:sp>
        <p:nvSpPr>
          <p:cNvPr id="5" name="Rounded Rectangle 4"/>
          <p:cNvSpPr/>
          <p:nvPr/>
        </p:nvSpPr>
        <p:spPr>
          <a:xfrm>
            <a:off x="8229600" y="2103120"/>
            <a:ext cx="3291840" cy="3474720"/>
          </a:xfrm>
          <a:prstGeom prst="roundRect">
            <a:avLst>
              <a:gd name="adj" fmla="val 8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0" y="2468880"/>
            <a:ext cx="2743200" cy="365760"/>
          </a:xfrm>
          <a:prstGeom prst="rect">
            <a:avLst/>
          </a:prstGeom>
          <a:noFill/>
        </p:spPr>
        <p:txBody>
          <a:bodyPr wrap="square" anchor="t"/>
          <a:lstStyle/>
          <a:p>
            <a:pPr algn="l"/>
            <a:r>
              <a:rPr sz="1200" b="1">
                <a:solidFill>
                  <a:srgbClr val="00C2A8"/>
                </a:solidFill>
                <a:latin typeface="Calibri"/>
              </a:rPr>
              <a:t>THE GAP</a:t>
            </a:r>
          </a:p>
        </p:txBody>
      </p:sp>
      <p:sp>
        <p:nvSpPr>
          <p:cNvPr id="7" name="TextBox 6"/>
          <p:cNvSpPr txBox="1"/>
          <p:nvPr/>
        </p:nvSpPr>
        <p:spPr>
          <a:xfrm>
            <a:off x="8503920" y="3017520"/>
            <a:ext cx="2743200" cy="2194560"/>
          </a:xfrm>
          <a:prstGeom prst="rect">
            <a:avLst/>
          </a:prstGeom>
          <a:noFill/>
        </p:spPr>
        <p:txBody>
          <a:bodyPr wrap="square" anchor="t"/>
          <a:lstStyle/>
          <a:p>
            <a:pPr algn="l"/>
            <a:r>
              <a:rPr sz="1800" b="1">
                <a:solidFill>
                  <a:srgbClr val="FFFFFF"/>
                </a:solidFill>
                <a:latin typeface="Calibri"/>
              </a:rPr>
              <a:t>Capability jumped.
Behavior didn't.
That's the wasted unlock.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Oval 1"/>
          <p:cNvSpPr/>
          <p:nvPr/>
        </p:nvSpPr>
        <p:spPr>
          <a:xfrm>
            <a:off x="-1097280" y="-914400"/>
            <a:ext cx="3200400" cy="3200400"/>
          </a:xfrm>
          <a:prstGeom prst="ellipse">
            <a:avLst/>
          </a:prstGeom>
          <a:solidFill>
            <a:srgbClr val="16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463040"/>
            <a:ext cx="914400" cy="914400"/>
          </a:xfrm>
          <a:prstGeom prst="rect">
            <a:avLst/>
          </a:prstGeom>
          <a:noFill/>
        </p:spPr>
        <p:txBody>
          <a:bodyPr wrap="square" anchor="t"/>
          <a:lstStyle/>
          <a:p>
            <a:pPr algn="l"/>
            <a:r>
              <a:rPr sz="9600" b="1">
                <a:solidFill>
                  <a:srgbClr val="00C2A8"/>
                </a:solidFill>
                <a:latin typeface="Calibri"/>
              </a:rPr>
              <a:t>“</a:t>
            </a:r>
          </a:p>
        </p:txBody>
      </p:sp>
      <p:sp>
        <p:nvSpPr>
          <p:cNvPr id="4" name="TextBox 3"/>
          <p:cNvSpPr txBox="1"/>
          <p:nvPr/>
        </p:nvSpPr>
        <p:spPr>
          <a:xfrm>
            <a:off x="914400" y="2377440"/>
            <a:ext cx="10241280" cy="2194560"/>
          </a:xfrm>
          <a:prstGeom prst="rect">
            <a:avLst/>
          </a:prstGeom>
          <a:noFill/>
        </p:spPr>
        <p:txBody>
          <a:bodyPr wrap="square" anchor="t"/>
          <a:lstStyle/>
          <a:p>
            <a:pPr algn="l"/>
            <a:r>
              <a:rPr sz="3200" b="1">
                <a:solidFill>
                  <a:srgbClr val="FFFFFF"/>
                </a:solidFill>
                <a:latin typeface="Calibri"/>
              </a:rPr>
              <a:t>5.6 Sol is a lot more tenacious and thorough than previous models.</a:t>
            </a:r>
          </a:p>
        </p:txBody>
      </p:sp>
      <p:sp>
        <p:nvSpPr>
          <p:cNvPr id="5" name="TextBox 4"/>
          <p:cNvSpPr txBox="1"/>
          <p:nvPr/>
        </p:nvSpPr>
        <p:spPr>
          <a:xfrm>
            <a:off x="914400" y="4937760"/>
            <a:ext cx="10058400" cy="548640"/>
          </a:xfrm>
          <a:prstGeom prst="rect">
            <a:avLst/>
          </a:prstGeom>
          <a:noFill/>
        </p:spPr>
        <p:txBody>
          <a:bodyPr wrap="square" anchor="t"/>
          <a:lstStyle/>
          <a:p>
            <a:pPr algn="l"/>
            <a:r>
              <a:rPr sz="1600" b="0">
                <a:solidFill>
                  <a:srgbClr val="8B95A8"/>
                </a:solidFill>
                <a:latin typeface="Calibri"/>
              </a:rPr>
              <a:t>— Eric Provencher, Codex team</a:t>
            </a:r>
          </a:p>
        </p:txBody>
      </p:sp>
      <p:sp>
        <p:nvSpPr>
          <p:cNvPr id="6" name="Rectangle 5"/>
          <p:cNvSpPr/>
          <p:nvPr/>
        </p:nvSpPr>
        <p:spPr>
          <a:xfrm>
            <a:off x="914400" y="5760720"/>
            <a:ext cx="2011680" cy="73152"/>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640080" y="365760"/>
            <a:ext cx="10972800" cy="1234440"/>
          </a:xfrm>
          <a:prstGeom prst="rect">
            <a:avLst/>
          </a:prstGeom>
          <a:noFill/>
        </p:spPr>
        <p:txBody>
          <a:bodyPr wrap="square" anchor="t"/>
          <a:lstStyle/>
          <a:p>
            <a:pPr algn="l"/>
            <a:r>
              <a:rPr sz="3600" b="1">
                <a:solidFill>
                  <a:srgbClr val="0B1220"/>
                </a:solidFill>
                <a:latin typeface="Calibri"/>
              </a:rPr>
              <a:t>Tenacious models need sharper boundaries, not longer prompts.</a:t>
            </a:r>
          </a:p>
        </p:txBody>
      </p:sp>
      <p:sp>
        <p:nvSpPr>
          <p:cNvPr id="3" name="Rounded Rectangle 2"/>
          <p:cNvSpPr/>
          <p:nvPr/>
        </p:nvSpPr>
        <p:spPr>
          <a:xfrm>
            <a:off x="640080" y="1828800"/>
            <a:ext cx="5212080" cy="420624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828800"/>
            <a:ext cx="128016" cy="420624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057400"/>
            <a:ext cx="4572000" cy="365760"/>
          </a:xfrm>
          <a:prstGeom prst="rect">
            <a:avLst/>
          </a:prstGeom>
          <a:noFill/>
        </p:spPr>
        <p:txBody>
          <a:bodyPr wrap="square" anchor="t"/>
          <a:lstStyle/>
          <a:p>
            <a:pPr algn="l"/>
            <a:r>
              <a:rPr sz="1300" b="1">
                <a:solidFill>
                  <a:srgbClr val="00C2A8"/>
                </a:solidFill>
                <a:latin typeface="Calibri"/>
              </a:rPr>
              <a:t>WHY BOUNDARIES MATTER</a:t>
            </a:r>
          </a:p>
        </p:txBody>
      </p:sp>
      <p:sp>
        <p:nvSpPr>
          <p:cNvPr id="6" name="TextBox 5"/>
          <p:cNvSpPr txBox="1"/>
          <p:nvPr/>
        </p:nvSpPr>
        <p:spPr>
          <a:xfrm>
            <a:off x="1005840" y="2743200"/>
            <a:ext cx="4572000" cy="2926080"/>
          </a:xfrm>
          <a:prstGeom prst="rect">
            <a:avLst/>
          </a:prstGeom>
          <a:noFill/>
        </p:spPr>
        <p:txBody>
          <a:bodyPr wrap="square">
            <a:spAutoFit/>
          </a:bodyPr>
          <a:lstStyle/>
          <a:p>
            <a:pPr algn="l">
              <a:spcBef>
                <a:spcPts val="0"/>
              </a:spcBef>
              <a:spcAft>
                <a:spcPts val="1000"/>
              </a:spcAft>
            </a:pPr>
            <a:r>
              <a:rPr sz="1700" b="1">
                <a:solidFill>
                  <a:srgbClr val="00C2A8"/>
                </a:solidFill>
                <a:latin typeface="Calibri"/>
              </a:rPr>
              <a:t>▸  </a:t>
            </a:r>
            <a:r>
              <a:rPr sz="1700" b="0">
                <a:solidFill>
                  <a:srgbClr val="0B1220"/>
                </a:solidFill>
                <a:latin typeface="Calibri"/>
              </a:rPr>
              <a:t>Stop unintended high-agency actions</a:t>
            </a:r>
          </a:p>
          <a:p>
            <a:pPr algn="l">
              <a:spcBef>
                <a:spcPts val="800"/>
              </a:spcBef>
              <a:spcAft>
                <a:spcPts val="1000"/>
              </a:spcAft>
            </a:pPr>
            <a:r>
              <a:rPr sz="1700" b="1">
                <a:solidFill>
                  <a:srgbClr val="00C2A8"/>
                </a:solidFill>
                <a:latin typeface="Calibri"/>
              </a:rPr>
              <a:t>▸  </a:t>
            </a:r>
            <a:r>
              <a:rPr sz="1700" b="0">
                <a:solidFill>
                  <a:srgbClr val="0B1220"/>
                </a:solidFill>
                <a:latin typeface="Calibri"/>
              </a:rPr>
              <a:t>Prevent costly rabbit-hole exploration</a:t>
            </a:r>
          </a:p>
          <a:p>
            <a:pPr algn="l">
              <a:spcBef>
                <a:spcPts val="800"/>
              </a:spcBef>
              <a:spcAft>
                <a:spcPts val="1000"/>
              </a:spcAft>
            </a:pPr>
            <a:r>
              <a:rPr sz="1700" b="1">
                <a:solidFill>
                  <a:srgbClr val="00C2A8"/>
                </a:solidFill>
                <a:latin typeface="Calibri"/>
              </a:rPr>
              <a:t>▸  </a:t>
            </a:r>
            <a:r>
              <a:rPr sz="1700" b="0">
                <a:solidFill>
                  <a:srgbClr val="0B1220"/>
                </a:solidFill>
                <a:latin typeface="Calibri"/>
              </a:rPr>
              <a:t>Protect unapproved sends and decisions</a:t>
            </a:r>
          </a:p>
        </p:txBody>
      </p:sp>
      <p:sp>
        <p:nvSpPr>
          <p:cNvPr id="7" name="Rounded Rectangle 6"/>
          <p:cNvSpPr/>
          <p:nvPr/>
        </p:nvSpPr>
        <p:spPr>
          <a:xfrm>
            <a:off x="6217920" y="1828800"/>
            <a:ext cx="5303520" cy="4206240"/>
          </a:xfrm>
          <a:prstGeom prst="roundRect">
            <a:avLst>
              <a:gd name="adj" fmla="val 6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057400"/>
            <a:ext cx="4663440" cy="320040"/>
          </a:xfrm>
          <a:prstGeom prst="rect">
            <a:avLst/>
          </a:prstGeom>
          <a:noFill/>
        </p:spPr>
        <p:txBody>
          <a:bodyPr wrap="square" anchor="t"/>
          <a:lstStyle/>
          <a:p>
            <a:pPr algn="l"/>
            <a:r>
              <a:rPr sz="1300" b="1">
                <a:solidFill>
                  <a:srgbClr val="00C2A8"/>
                </a:solidFill>
                <a:latin typeface="Calibri"/>
              </a:rPr>
              <a:t>SAY IT EXPLICITLY</a:t>
            </a:r>
          </a:p>
        </p:txBody>
      </p:sp>
      <p:sp>
        <p:nvSpPr>
          <p:cNvPr id="9" name="Rounded Rectangle 8"/>
          <p:cNvSpPr/>
          <p:nvPr/>
        </p:nvSpPr>
        <p:spPr>
          <a:xfrm>
            <a:off x="6583680" y="2606040"/>
            <a:ext cx="4663440" cy="640080"/>
          </a:xfrm>
          <a:prstGeom prst="roundRect">
            <a:avLst>
              <a:gd name="adj" fmla="val 10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770632"/>
            <a:ext cx="4297680" cy="365760"/>
          </a:xfrm>
          <a:prstGeom prst="rect">
            <a:avLst/>
          </a:prstGeom>
          <a:noFill/>
        </p:spPr>
        <p:txBody>
          <a:bodyPr wrap="square" anchor="t"/>
          <a:lstStyle/>
          <a:p>
            <a:pPr algn="l"/>
            <a:r>
              <a:rPr sz="1400" b="0">
                <a:solidFill>
                  <a:srgbClr val="FFFFFF"/>
                </a:solidFill>
                <a:latin typeface="Calibri"/>
              </a:rPr>
              <a:t>Keep approved dates and budgets unchanged</a:t>
            </a:r>
          </a:p>
        </p:txBody>
      </p:sp>
      <p:sp>
        <p:nvSpPr>
          <p:cNvPr id="11" name="Rounded Rectangle 10"/>
          <p:cNvSpPr/>
          <p:nvPr/>
        </p:nvSpPr>
        <p:spPr>
          <a:xfrm>
            <a:off x="6583680" y="3383280"/>
            <a:ext cx="4663440" cy="640080"/>
          </a:xfrm>
          <a:prstGeom prst="roundRect">
            <a:avLst>
              <a:gd name="adj" fmla="val 10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3547872"/>
            <a:ext cx="4297680" cy="365760"/>
          </a:xfrm>
          <a:prstGeom prst="rect">
            <a:avLst/>
          </a:prstGeom>
          <a:noFill/>
        </p:spPr>
        <p:txBody>
          <a:bodyPr wrap="square" anchor="t"/>
          <a:lstStyle/>
          <a:p>
            <a:pPr algn="l"/>
            <a:r>
              <a:rPr sz="1400" b="0">
                <a:solidFill>
                  <a:srgbClr val="FFFFFF"/>
                </a:solidFill>
                <a:latin typeface="Calibri"/>
              </a:rPr>
              <a:t>Use only the supplied sources</a:t>
            </a:r>
          </a:p>
        </p:txBody>
      </p:sp>
      <p:sp>
        <p:nvSpPr>
          <p:cNvPr id="13" name="Rounded Rectangle 12"/>
          <p:cNvSpPr/>
          <p:nvPr/>
        </p:nvSpPr>
        <p:spPr>
          <a:xfrm>
            <a:off x="6583680" y="4160520"/>
            <a:ext cx="4663440" cy="640080"/>
          </a:xfrm>
          <a:prstGeom prst="roundRect">
            <a:avLst>
              <a:gd name="adj" fmla="val 10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4325112"/>
            <a:ext cx="4297680" cy="365760"/>
          </a:xfrm>
          <a:prstGeom prst="rect">
            <a:avLst/>
          </a:prstGeom>
          <a:noFill/>
        </p:spPr>
        <p:txBody>
          <a:bodyPr wrap="square" anchor="t"/>
          <a:lstStyle/>
          <a:p>
            <a:pPr algn="l"/>
            <a:r>
              <a:rPr sz="1400" b="0">
                <a:solidFill>
                  <a:srgbClr val="FFFFFF"/>
                </a:solidFill>
                <a:latin typeface="Calibri"/>
              </a:rPr>
              <a:t>Draft the message — don't send it</a:t>
            </a:r>
          </a:p>
        </p:txBody>
      </p:sp>
      <p:sp>
        <p:nvSpPr>
          <p:cNvPr id="15" name="Rounded Rectangle 14"/>
          <p:cNvSpPr/>
          <p:nvPr/>
        </p:nvSpPr>
        <p:spPr>
          <a:xfrm>
            <a:off x="6583680" y="4937760"/>
            <a:ext cx="4663440" cy="640080"/>
          </a:xfrm>
          <a:prstGeom prst="roundRect">
            <a:avLst>
              <a:gd name="adj" fmla="val 10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5102352"/>
            <a:ext cx="4297680" cy="365760"/>
          </a:xfrm>
          <a:prstGeom prst="rect">
            <a:avLst/>
          </a:prstGeom>
          <a:noFill/>
        </p:spPr>
        <p:txBody>
          <a:bodyPr wrap="square" anchor="t"/>
          <a:lstStyle/>
          <a:p>
            <a:pPr algn="l"/>
            <a:r>
              <a:rPr sz="1400" b="0">
                <a:solidFill>
                  <a:srgbClr val="FFFFFF"/>
                </a:solidFill>
                <a:latin typeface="Calibri"/>
              </a:rPr>
              <a:t>Steer mid-run; queue the follow-up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640080" y="320040"/>
            <a:ext cx="10972800" cy="1188720"/>
          </a:xfrm>
          <a:prstGeom prst="rect">
            <a:avLst/>
          </a:prstGeom>
          <a:noFill/>
        </p:spPr>
        <p:txBody>
          <a:bodyPr wrap="square" anchor="t"/>
          <a:lstStyle/>
          <a:p>
            <a:pPr algn="l"/>
            <a:r>
              <a:rPr sz="3600" b="1">
                <a:solidFill>
                  <a:srgbClr val="0B1220"/>
                </a:solidFill>
                <a:latin typeface="Calibri"/>
              </a:rPr>
              <a:t>Delete old repeated instructions — they now cost quality and tokens.</a:t>
            </a:r>
          </a:p>
        </p:txBody>
      </p:sp>
      <p:sp>
        <p:nvSpPr>
          <p:cNvPr id="3" name="Rounded Rectangle 2"/>
          <p:cNvSpPr/>
          <p:nvPr/>
        </p:nvSpPr>
        <p:spPr>
          <a:xfrm>
            <a:off x="640080" y="1828800"/>
            <a:ext cx="3520440" cy="40233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828800"/>
            <a:ext cx="3520440" cy="128016"/>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377440"/>
            <a:ext cx="2926080" cy="1280160"/>
          </a:xfrm>
          <a:prstGeom prst="rect">
            <a:avLst/>
          </a:prstGeom>
          <a:noFill/>
        </p:spPr>
        <p:txBody>
          <a:bodyPr wrap="square" anchor="t"/>
          <a:lstStyle/>
          <a:p>
            <a:pPr algn="l"/>
            <a:r>
              <a:rPr sz="5400" b="1">
                <a:solidFill>
                  <a:srgbClr val="00C2A8"/>
                </a:solidFill>
                <a:latin typeface="Calibri"/>
              </a:rPr>
              <a:t>10–15%</a:t>
            </a:r>
          </a:p>
        </p:txBody>
      </p:sp>
      <p:sp>
        <p:nvSpPr>
          <p:cNvPr id="6" name="TextBox 5"/>
          <p:cNvSpPr txBox="1"/>
          <p:nvPr/>
        </p:nvSpPr>
        <p:spPr>
          <a:xfrm>
            <a:off x="960120" y="3931920"/>
            <a:ext cx="2926080" cy="1371600"/>
          </a:xfrm>
          <a:prstGeom prst="rect">
            <a:avLst/>
          </a:prstGeom>
          <a:noFill/>
        </p:spPr>
        <p:txBody>
          <a:bodyPr wrap="square" anchor="t"/>
          <a:lstStyle/>
          <a:p>
            <a:pPr algn="l"/>
            <a:r>
              <a:rPr sz="1600" b="0">
                <a:solidFill>
                  <a:srgbClr val="5B6577"/>
                </a:solidFill>
                <a:latin typeface="Calibri"/>
              </a:rPr>
              <a:t>Score lift from stating
each instruction once</a:t>
            </a:r>
          </a:p>
        </p:txBody>
      </p:sp>
      <p:sp>
        <p:nvSpPr>
          <p:cNvPr id="7" name="Rounded Rectangle 6"/>
          <p:cNvSpPr/>
          <p:nvPr/>
        </p:nvSpPr>
        <p:spPr>
          <a:xfrm>
            <a:off x="4389119" y="1828800"/>
            <a:ext cx="3520440" cy="40233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19" y="1828800"/>
            <a:ext cx="3520440" cy="128016"/>
          </a:xfrm>
          <a:prstGeom prst="rect">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59" y="2377440"/>
            <a:ext cx="2926080" cy="1280160"/>
          </a:xfrm>
          <a:prstGeom prst="rect">
            <a:avLst/>
          </a:prstGeom>
          <a:noFill/>
        </p:spPr>
        <p:txBody>
          <a:bodyPr wrap="square" anchor="t"/>
          <a:lstStyle/>
          <a:p>
            <a:pPr algn="l"/>
            <a:r>
              <a:rPr sz="5400" b="1">
                <a:solidFill>
                  <a:srgbClr val="FF5A36"/>
                </a:solidFill>
                <a:latin typeface="Calibri"/>
              </a:rPr>
              <a:t>66%</a:t>
            </a:r>
          </a:p>
        </p:txBody>
      </p:sp>
      <p:sp>
        <p:nvSpPr>
          <p:cNvPr id="10" name="TextBox 9"/>
          <p:cNvSpPr txBox="1"/>
          <p:nvPr/>
        </p:nvSpPr>
        <p:spPr>
          <a:xfrm>
            <a:off x="4709159" y="3931920"/>
            <a:ext cx="2926080" cy="1371600"/>
          </a:xfrm>
          <a:prstGeom prst="rect">
            <a:avLst/>
          </a:prstGeom>
          <a:noFill/>
        </p:spPr>
        <p:txBody>
          <a:bodyPr wrap="square" anchor="t"/>
          <a:lstStyle/>
          <a:p>
            <a:pPr algn="l"/>
            <a:r>
              <a:rPr sz="1600" b="0">
                <a:solidFill>
                  <a:srgbClr val="5B6577"/>
                </a:solidFill>
                <a:latin typeface="Calibri"/>
              </a:rPr>
              <a:t>Token cut by removing
duplicated instructions</a:t>
            </a:r>
          </a:p>
        </p:txBody>
      </p:sp>
      <p:sp>
        <p:nvSpPr>
          <p:cNvPr id="11" name="Rounded Rectangle 10"/>
          <p:cNvSpPr/>
          <p:nvPr/>
        </p:nvSpPr>
        <p:spPr>
          <a:xfrm>
            <a:off x="8138158" y="1828800"/>
            <a:ext cx="3520440" cy="40233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58" y="1828800"/>
            <a:ext cx="3520440" cy="12801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8" y="2377440"/>
            <a:ext cx="2926080" cy="1280160"/>
          </a:xfrm>
          <a:prstGeom prst="rect">
            <a:avLst/>
          </a:prstGeom>
          <a:noFill/>
        </p:spPr>
        <p:txBody>
          <a:bodyPr wrap="square" anchor="t"/>
          <a:lstStyle/>
          <a:p>
            <a:pPr algn="l"/>
            <a:r>
              <a:rPr sz="5400" b="1">
                <a:solidFill>
                  <a:srgbClr val="0B1220"/>
                </a:solidFill>
                <a:latin typeface="Calibri"/>
              </a:rPr>
              <a:t>6</a:t>
            </a:r>
          </a:p>
        </p:txBody>
      </p:sp>
      <p:sp>
        <p:nvSpPr>
          <p:cNvPr id="14" name="TextBox 13"/>
          <p:cNvSpPr txBox="1"/>
          <p:nvPr/>
        </p:nvSpPr>
        <p:spPr>
          <a:xfrm>
            <a:off x="8458198" y="3931920"/>
            <a:ext cx="2926080" cy="1371600"/>
          </a:xfrm>
          <a:prstGeom prst="rect">
            <a:avLst/>
          </a:prstGeom>
          <a:noFill/>
        </p:spPr>
        <p:txBody>
          <a:bodyPr wrap="square" anchor="t"/>
          <a:lstStyle/>
          <a:p>
            <a:pPr algn="l"/>
            <a:r>
              <a:rPr sz="1600" b="0">
                <a:solidFill>
                  <a:srgbClr val="5B6577"/>
                </a:solidFill>
                <a:latin typeface="Calibri"/>
              </a:rPr>
              <a:t>Effort levels on 5.6's
thinking dial, none → max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65760"/>
            <a:ext cx="10972800" cy="1188720"/>
          </a:xfrm>
          <a:prstGeom prst="rect">
            <a:avLst/>
          </a:prstGeom>
          <a:noFill/>
        </p:spPr>
        <p:txBody>
          <a:bodyPr wrap="square" anchor="t"/>
          <a:lstStyle/>
          <a:p>
            <a:pPr algn="l"/>
            <a:r>
              <a:rPr sz="3600" b="1">
                <a:solidFill>
                  <a:srgbClr val="FFFFFF"/>
                </a:solidFill>
                <a:latin typeface="Calibri"/>
              </a:rPr>
              <a:t>Match compute to the job — size and effort are separate dials.</a:t>
            </a:r>
          </a:p>
        </p:txBody>
      </p:sp>
      <p:sp>
        <p:nvSpPr>
          <p:cNvPr id="3" name="Rounded Rectangle 2"/>
          <p:cNvSpPr/>
          <p:nvPr/>
        </p:nvSpPr>
        <p:spPr>
          <a:xfrm>
            <a:off x="640080" y="1828800"/>
            <a:ext cx="5303520" cy="4206240"/>
          </a:xfrm>
          <a:prstGeom prst="roundRect">
            <a:avLst>
              <a:gd name="adj" fmla="val 6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03120"/>
            <a:ext cx="4663440" cy="365760"/>
          </a:xfrm>
          <a:prstGeom prst="rect">
            <a:avLst/>
          </a:prstGeom>
          <a:noFill/>
        </p:spPr>
        <p:txBody>
          <a:bodyPr wrap="square" anchor="t"/>
          <a:lstStyle/>
          <a:p>
            <a:pPr algn="l"/>
            <a:r>
              <a:rPr sz="1300" b="1">
                <a:solidFill>
                  <a:srgbClr val="00C2A8"/>
                </a:solidFill>
                <a:latin typeface="Calibri"/>
              </a:rPr>
              <a:t>MODEL SIZE</a:t>
            </a:r>
          </a:p>
        </p:txBody>
      </p:sp>
      <p:sp>
        <p:nvSpPr>
          <p:cNvPr id="5" name="Rounded Rectangle 4"/>
          <p:cNvSpPr/>
          <p:nvPr/>
        </p:nvSpPr>
        <p:spPr>
          <a:xfrm>
            <a:off x="960120" y="2743200"/>
            <a:ext cx="4663440" cy="777240"/>
          </a:xfrm>
          <a:prstGeom prst="roundRect">
            <a:avLst>
              <a:gd name="adj" fmla="val 8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07792"/>
            <a:ext cx="1463040" cy="457200"/>
          </a:xfrm>
          <a:prstGeom prst="rect">
            <a:avLst/>
          </a:prstGeom>
          <a:noFill/>
        </p:spPr>
        <p:txBody>
          <a:bodyPr wrap="square" anchor="t"/>
          <a:lstStyle/>
          <a:p>
            <a:pPr algn="l"/>
            <a:r>
              <a:rPr sz="2000" b="1">
                <a:solidFill>
                  <a:srgbClr val="00C2A8"/>
                </a:solidFill>
                <a:latin typeface="Calibri"/>
              </a:rPr>
              <a:t>Sol</a:t>
            </a:r>
          </a:p>
        </p:txBody>
      </p:sp>
      <p:sp>
        <p:nvSpPr>
          <p:cNvPr id="7" name="TextBox 6"/>
          <p:cNvSpPr txBox="1"/>
          <p:nvPr/>
        </p:nvSpPr>
        <p:spPr>
          <a:xfrm>
            <a:off x="2834640" y="2944368"/>
            <a:ext cx="2560320" cy="457200"/>
          </a:xfrm>
          <a:prstGeom prst="rect">
            <a:avLst/>
          </a:prstGeom>
          <a:noFill/>
        </p:spPr>
        <p:txBody>
          <a:bodyPr wrap="square" anchor="t"/>
          <a:lstStyle/>
          <a:p>
            <a:pPr algn="l"/>
            <a:r>
              <a:rPr sz="1600" b="0">
                <a:solidFill>
                  <a:srgbClr val="FFFFFF"/>
                </a:solidFill>
                <a:latin typeface="Calibri"/>
              </a:rPr>
              <a:t>Hardest problems</a:t>
            </a:r>
          </a:p>
        </p:txBody>
      </p:sp>
      <p:sp>
        <p:nvSpPr>
          <p:cNvPr id="8" name="Rounded Rectangle 7"/>
          <p:cNvSpPr/>
          <p:nvPr/>
        </p:nvSpPr>
        <p:spPr>
          <a:xfrm>
            <a:off x="960120" y="3703320"/>
            <a:ext cx="4663440" cy="777240"/>
          </a:xfrm>
          <a:prstGeom prst="roundRect">
            <a:avLst>
              <a:gd name="adj" fmla="val 8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867912"/>
            <a:ext cx="1463040" cy="457200"/>
          </a:xfrm>
          <a:prstGeom prst="rect">
            <a:avLst/>
          </a:prstGeom>
          <a:noFill/>
        </p:spPr>
        <p:txBody>
          <a:bodyPr wrap="square" anchor="t"/>
          <a:lstStyle/>
          <a:p>
            <a:pPr algn="l"/>
            <a:r>
              <a:rPr sz="2000" b="1">
                <a:solidFill>
                  <a:srgbClr val="00C2A8"/>
                </a:solidFill>
                <a:latin typeface="Calibri"/>
              </a:rPr>
              <a:t>Terra</a:t>
            </a:r>
          </a:p>
        </p:txBody>
      </p:sp>
      <p:sp>
        <p:nvSpPr>
          <p:cNvPr id="10" name="TextBox 9"/>
          <p:cNvSpPr txBox="1"/>
          <p:nvPr/>
        </p:nvSpPr>
        <p:spPr>
          <a:xfrm>
            <a:off x="2834640" y="3904488"/>
            <a:ext cx="2560320" cy="457200"/>
          </a:xfrm>
          <a:prstGeom prst="rect">
            <a:avLst/>
          </a:prstGeom>
          <a:noFill/>
        </p:spPr>
        <p:txBody>
          <a:bodyPr wrap="square" anchor="t"/>
          <a:lstStyle/>
          <a:p>
            <a:pPr algn="l"/>
            <a:r>
              <a:rPr sz="1600" b="0">
                <a:solidFill>
                  <a:srgbClr val="FFFFFF"/>
                </a:solidFill>
                <a:latin typeface="Calibri"/>
              </a:rPr>
              <a:t>Everyday business work</a:t>
            </a:r>
          </a:p>
        </p:txBody>
      </p:sp>
      <p:sp>
        <p:nvSpPr>
          <p:cNvPr id="11" name="Rounded Rectangle 10"/>
          <p:cNvSpPr/>
          <p:nvPr/>
        </p:nvSpPr>
        <p:spPr>
          <a:xfrm>
            <a:off x="960120" y="4663440"/>
            <a:ext cx="4663440" cy="777240"/>
          </a:xfrm>
          <a:prstGeom prst="roundRect">
            <a:avLst>
              <a:gd name="adj" fmla="val 8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828032"/>
            <a:ext cx="1463040" cy="457200"/>
          </a:xfrm>
          <a:prstGeom prst="rect">
            <a:avLst/>
          </a:prstGeom>
          <a:noFill/>
        </p:spPr>
        <p:txBody>
          <a:bodyPr wrap="square" anchor="t"/>
          <a:lstStyle/>
          <a:p>
            <a:pPr algn="l"/>
            <a:r>
              <a:rPr sz="2000" b="1">
                <a:solidFill>
                  <a:srgbClr val="00C2A8"/>
                </a:solidFill>
                <a:latin typeface="Calibri"/>
              </a:rPr>
              <a:t>Luna</a:t>
            </a:r>
          </a:p>
        </p:txBody>
      </p:sp>
      <p:sp>
        <p:nvSpPr>
          <p:cNvPr id="13" name="TextBox 12"/>
          <p:cNvSpPr txBox="1"/>
          <p:nvPr/>
        </p:nvSpPr>
        <p:spPr>
          <a:xfrm>
            <a:off x="2834640" y="4864608"/>
            <a:ext cx="2560320" cy="457200"/>
          </a:xfrm>
          <a:prstGeom prst="rect">
            <a:avLst/>
          </a:prstGeom>
          <a:noFill/>
        </p:spPr>
        <p:txBody>
          <a:bodyPr wrap="square" anchor="t"/>
          <a:lstStyle/>
          <a:p>
            <a:pPr algn="l"/>
            <a:r>
              <a:rPr sz="1600" b="0">
                <a:solidFill>
                  <a:srgbClr val="FFFFFF"/>
                </a:solidFill>
                <a:latin typeface="Calibri"/>
              </a:rPr>
              <a:t>Cheap, fast tasks</a:t>
            </a:r>
          </a:p>
        </p:txBody>
      </p:sp>
      <p:sp>
        <p:nvSpPr>
          <p:cNvPr id="14" name="Rounded Rectangle 13"/>
          <p:cNvSpPr/>
          <p:nvPr/>
        </p:nvSpPr>
        <p:spPr>
          <a:xfrm>
            <a:off x="6263640" y="1828800"/>
            <a:ext cx="5303520" cy="4206240"/>
          </a:xfrm>
          <a:prstGeom prst="roundRect">
            <a:avLst>
              <a:gd name="adj" fmla="val 6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103120"/>
            <a:ext cx="4663440" cy="365760"/>
          </a:xfrm>
          <a:prstGeom prst="rect">
            <a:avLst/>
          </a:prstGeom>
          <a:noFill/>
        </p:spPr>
        <p:txBody>
          <a:bodyPr wrap="square" anchor="t"/>
          <a:lstStyle/>
          <a:p>
            <a:pPr algn="l"/>
            <a:r>
              <a:rPr sz="1300" b="1">
                <a:solidFill>
                  <a:srgbClr val="FF5A36"/>
                </a:solidFill>
                <a:latin typeface="Calibri"/>
              </a:rPr>
              <a:t>THINKING EFFORT</a:t>
            </a:r>
          </a:p>
        </p:txBody>
      </p:sp>
      <p:sp>
        <p:nvSpPr>
          <p:cNvPr id="16" name="TextBox 15"/>
          <p:cNvSpPr txBox="1"/>
          <p:nvPr/>
        </p:nvSpPr>
        <p:spPr>
          <a:xfrm>
            <a:off x="6583680" y="2743200"/>
            <a:ext cx="4663440" cy="2560320"/>
          </a:xfrm>
          <a:prstGeom prst="rect">
            <a:avLst/>
          </a:prstGeom>
          <a:noFill/>
        </p:spPr>
        <p:txBody>
          <a:bodyPr wrap="square" anchor="t"/>
          <a:lstStyle/>
          <a:p>
            <a:pPr algn="l"/>
            <a:r>
              <a:rPr sz="1800" b="0">
                <a:solidFill>
                  <a:srgbClr val="FFFFFF"/>
                </a:solidFill>
                <a:latin typeface="Calibri"/>
              </a:rPr>
              <a:t>Start at your last model's setting.
Then test one level lower.
The new generation usually needs less.
Save max for genuinely hard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5A36"/>
        </a:solidFill>
        <a:effectLst/>
      </p:bgPr>
    </p:bg>
    <p:spTree>
      <p:nvGrpSpPr>
        <p:cNvPr id="1" name=""/>
        <p:cNvGrpSpPr/>
        <p:nvPr/>
      </p:nvGrpSpPr>
      <p:grpSpPr/>
      <p:sp>
        <p:nvSpPr>
          <p:cNvPr id="2" name="TextBox 1"/>
          <p:cNvSpPr txBox="1"/>
          <p:nvPr/>
        </p:nvSpPr>
        <p:spPr>
          <a:xfrm>
            <a:off x="914400" y="2194560"/>
            <a:ext cx="10241280" cy="2377440"/>
          </a:xfrm>
          <a:prstGeom prst="rect">
            <a:avLst/>
          </a:prstGeom>
          <a:noFill/>
        </p:spPr>
        <p:txBody>
          <a:bodyPr wrap="square" anchor="t"/>
          <a:lstStyle/>
          <a:p>
            <a:pPr algn="l"/>
            <a:r>
              <a:rPr sz="3600" b="1">
                <a:solidFill>
                  <a:srgbClr val="FFFFFF"/>
                </a:solidFill>
                <a:latin typeface="Calibri"/>
              </a:rPr>
              <a:t>Dialing every task to max feels smart. It is usually the wrong move.</a:t>
            </a:r>
          </a:p>
        </p:txBody>
      </p:sp>
      <p:sp>
        <p:nvSpPr>
          <p:cNvPr id="3" name="TextBox 2"/>
          <p:cNvSpPr txBox="1"/>
          <p:nvPr/>
        </p:nvSpPr>
        <p:spPr>
          <a:xfrm>
            <a:off x="914400" y="4937760"/>
            <a:ext cx="10058400" cy="457200"/>
          </a:xfrm>
          <a:prstGeom prst="rect">
            <a:avLst/>
          </a:prstGeom>
          <a:noFill/>
        </p:spPr>
        <p:txBody>
          <a:bodyPr wrap="square" anchor="t"/>
          <a:lstStyle/>
          <a:p>
            <a:pPr algn="l"/>
            <a:r>
              <a:rPr sz="1600" b="0">
                <a:solidFill>
                  <a:srgbClr val="FFD8CF"/>
                </a:solidFill>
                <a:latin typeface="Calibri"/>
              </a:rPr>
              <a:t>Even before cost — more compute is not always more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822960" y="1645920"/>
            <a:ext cx="146304" cy="329184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1737360"/>
            <a:ext cx="9875520" cy="2560320"/>
          </a:xfrm>
          <a:prstGeom prst="rect">
            <a:avLst/>
          </a:prstGeom>
          <a:noFill/>
        </p:spPr>
        <p:txBody>
          <a:bodyPr wrap="square" anchor="t"/>
          <a:lstStyle/>
          <a:p>
            <a:pPr algn="l"/>
            <a:r>
              <a:rPr sz="3000" b="1">
                <a:solidFill>
                  <a:srgbClr val="FFFFFF"/>
                </a:solidFill>
                <a:latin typeface="Calibri"/>
              </a:rPr>
              <a:t>The biggest unlock happened when I went beyond automating busywork to high-leverage work.</a:t>
            </a:r>
          </a:p>
        </p:txBody>
      </p:sp>
      <p:sp>
        <p:nvSpPr>
          <p:cNvPr id="4" name="TextBox 3"/>
          <p:cNvSpPr txBox="1"/>
          <p:nvPr/>
        </p:nvSpPr>
        <p:spPr>
          <a:xfrm>
            <a:off x="1280160" y="4663440"/>
            <a:ext cx="9601200" cy="457200"/>
          </a:xfrm>
          <a:prstGeom prst="rect">
            <a:avLst/>
          </a:prstGeom>
          <a:noFill/>
        </p:spPr>
        <p:txBody>
          <a:bodyPr wrap="square" anchor="t"/>
          <a:lstStyle/>
          <a:p>
            <a:pPr algn="l"/>
            <a:r>
              <a:rPr sz="1600" b="0">
                <a:solidFill>
                  <a:srgbClr val="8B95A8"/>
                </a:solidFill>
                <a:latin typeface="Calibri"/>
              </a:rPr>
              <a:t>— Christine Zhu, AI UX PM at Intuit</a:t>
            </a:r>
          </a:p>
        </p:txBody>
      </p:sp>
      <p:sp>
        <p:nvSpPr>
          <p:cNvPr id="5" name="TextBox 4"/>
          <p:cNvSpPr txBox="1"/>
          <p:nvPr/>
        </p:nvSpPr>
        <p:spPr>
          <a:xfrm>
            <a:off x="1280160" y="5394960"/>
            <a:ext cx="9601200" cy="548640"/>
          </a:xfrm>
          <a:prstGeom prst="rect">
            <a:avLst/>
          </a:prstGeom>
          <a:noFill/>
        </p:spPr>
        <p:txBody>
          <a:bodyPr wrap="square" anchor="t"/>
          <a:lstStyle/>
          <a:p>
            <a:pPr algn="l"/>
            <a:r>
              <a:rPr sz="1600" b="1">
                <a:solidFill>
                  <a:srgbClr val="00C2A8"/>
                </a:solidFill>
                <a:latin typeface="Calibri"/>
              </a:rPr>
              <a:t>Stop clearing the “dopamine backlog.” Start asking for judgment.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640080" y="320040"/>
            <a:ext cx="10972800" cy="1097280"/>
          </a:xfrm>
          <a:prstGeom prst="rect">
            <a:avLst/>
          </a:prstGeom>
          <a:noFill/>
        </p:spPr>
        <p:txBody>
          <a:bodyPr wrap="square" anchor="t"/>
          <a:lstStyle/>
          <a:p>
            <a:pPr algn="l"/>
            <a:r>
              <a:rPr sz="3600" b="1">
                <a:solidFill>
                  <a:srgbClr val="0B1220"/>
                </a:solidFill>
                <a:latin typeface="Calibri"/>
              </a:rPr>
              <a:t>Use Fable differently for optics, execution, and impact work.</a:t>
            </a:r>
          </a:p>
        </p:txBody>
      </p:sp>
      <p:sp>
        <p:nvSpPr>
          <p:cNvPr id="3" name="Rounded Rectangle 2"/>
          <p:cNvSpPr/>
          <p:nvPr/>
        </p:nvSpPr>
        <p:spPr>
          <a:xfrm>
            <a:off x="640080" y="1645920"/>
            <a:ext cx="3566160" cy="4480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45920"/>
            <a:ext cx="3566160" cy="146304"/>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3017520" cy="320040"/>
          </a:xfrm>
          <a:prstGeom prst="rect">
            <a:avLst/>
          </a:prstGeom>
          <a:noFill/>
        </p:spPr>
        <p:txBody>
          <a:bodyPr wrap="square" anchor="t"/>
          <a:lstStyle/>
          <a:p>
            <a:pPr algn="l"/>
            <a:r>
              <a:rPr sz="1200" b="1">
                <a:solidFill>
                  <a:srgbClr val="00C2A8"/>
                </a:solidFill>
                <a:latin typeface="Calibri"/>
              </a:rPr>
              <a:t>OPTICS</a:t>
            </a:r>
          </a:p>
        </p:txBody>
      </p:sp>
      <p:sp>
        <p:nvSpPr>
          <p:cNvPr id="6" name="TextBox 5"/>
          <p:cNvSpPr txBox="1"/>
          <p:nvPr/>
        </p:nvSpPr>
        <p:spPr>
          <a:xfrm>
            <a:off x="914400" y="2468880"/>
            <a:ext cx="3017520" cy="1188720"/>
          </a:xfrm>
          <a:prstGeom prst="rect">
            <a:avLst/>
          </a:prstGeom>
          <a:noFill/>
        </p:spPr>
        <p:txBody>
          <a:bodyPr wrap="square" anchor="t"/>
          <a:lstStyle/>
          <a:p>
            <a:pPr algn="l"/>
            <a:r>
              <a:rPr sz="2600" b="1">
                <a:solidFill>
                  <a:srgbClr val="0B1220"/>
                </a:solidFill>
                <a:latin typeface="Calibri"/>
              </a:rPr>
              <a:t>AUTOPILOT</a:t>
            </a:r>
          </a:p>
        </p:txBody>
      </p:sp>
      <p:sp>
        <p:nvSpPr>
          <p:cNvPr id="7" name="TextBox 6"/>
          <p:cNvSpPr txBox="1"/>
          <p:nvPr/>
        </p:nvSpPr>
        <p:spPr>
          <a:xfrm>
            <a:off x="914400" y="4023360"/>
            <a:ext cx="3017520" cy="1645920"/>
          </a:xfrm>
          <a:prstGeom prst="rect">
            <a:avLst/>
          </a:prstGeom>
          <a:noFill/>
        </p:spPr>
        <p:txBody>
          <a:bodyPr wrap="square" anchor="t"/>
          <a:lstStyle/>
          <a:p>
            <a:pPr algn="l"/>
            <a:r>
              <a:rPr sz="1600" b="0">
                <a:solidFill>
                  <a:srgbClr val="5B6577"/>
                </a:solidFill>
                <a:latin typeface="Calibri"/>
              </a:rPr>
              <a:t>Automate visibility.
Status boards, updates,
audience packaging.</a:t>
            </a:r>
          </a:p>
        </p:txBody>
      </p:sp>
      <p:sp>
        <p:nvSpPr>
          <p:cNvPr id="8" name="Rounded Rectangle 7"/>
          <p:cNvSpPr/>
          <p:nvPr/>
        </p:nvSpPr>
        <p:spPr>
          <a:xfrm>
            <a:off x="4434840" y="1645920"/>
            <a:ext cx="3566160" cy="4480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34840" y="1645920"/>
            <a:ext cx="3566160" cy="146304"/>
          </a:xfrm>
          <a:prstGeom prst="rect">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011680"/>
            <a:ext cx="3017520" cy="320040"/>
          </a:xfrm>
          <a:prstGeom prst="rect">
            <a:avLst/>
          </a:prstGeom>
          <a:noFill/>
        </p:spPr>
        <p:txBody>
          <a:bodyPr wrap="square" anchor="t"/>
          <a:lstStyle/>
          <a:p>
            <a:pPr algn="l"/>
            <a:r>
              <a:rPr sz="1200" b="1">
                <a:solidFill>
                  <a:srgbClr val="FF5A36"/>
                </a:solidFill>
                <a:latin typeface="Calibri"/>
              </a:rPr>
              <a:t>EXECUTION</a:t>
            </a:r>
          </a:p>
        </p:txBody>
      </p:sp>
      <p:sp>
        <p:nvSpPr>
          <p:cNvPr id="11" name="TextBox 10"/>
          <p:cNvSpPr txBox="1"/>
          <p:nvPr/>
        </p:nvSpPr>
        <p:spPr>
          <a:xfrm>
            <a:off x="4709160" y="2468880"/>
            <a:ext cx="3017520" cy="1188720"/>
          </a:xfrm>
          <a:prstGeom prst="rect">
            <a:avLst/>
          </a:prstGeom>
          <a:noFill/>
        </p:spPr>
        <p:txBody>
          <a:bodyPr wrap="square" anchor="t"/>
          <a:lstStyle/>
          <a:p>
            <a:pPr algn="l"/>
            <a:r>
              <a:rPr sz="2600" b="1">
                <a:solidFill>
                  <a:srgbClr val="0B1220"/>
                </a:solidFill>
                <a:latin typeface="Calibri"/>
              </a:rPr>
              <a:t>CO-PILOT</a:t>
            </a:r>
          </a:p>
        </p:txBody>
      </p:sp>
      <p:sp>
        <p:nvSpPr>
          <p:cNvPr id="12" name="TextBox 11"/>
          <p:cNvSpPr txBox="1"/>
          <p:nvPr/>
        </p:nvSpPr>
        <p:spPr>
          <a:xfrm>
            <a:off x="4709160" y="4023360"/>
            <a:ext cx="3017520" cy="1645920"/>
          </a:xfrm>
          <a:prstGeom prst="rect">
            <a:avLst/>
          </a:prstGeom>
          <a:noFill/>
        </p:spPr>
        <p:txBody>
          <a:bodyPr wrap="square" anchor="t"/>
          <a:lstStyle/>
          <a:p>
            <a:pPr algn="l"/>
            <a:r>
              <a:rPr sz="1600" b="0">
                <a:solidFill>
                  <a:srgbClr val="5B6577"/>
                </a:solidFill>
                <a:latin typeface="Calibri"/>
              </a:rPr>
              <a:t>Ask for judgment.
Weekly context dumps,
planning, customer themes.</a:t>
            </a:r>
          </a:p>
        </p:txBody>
      </p:sp>
      <p:sp>
        <p:nvSpPr>
          <p:cNvPr id="13" name="Rounded Rectangle 12"/>
          <p:cNvSpPr/>
          <p:nvPr/>
        </p:nvSpPr>
        <p:spPr>
          <a:xfrm>
            <a:off x="8229600" y="1645920"/>
            <a:ext cx="3566160" cy="4480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1645920"/>
            <a:ext cx="3566160" cy="146304"/>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0" y="2011680"/>
            <a:ext cx="3017520" cy="320040"/>
          </a:xfrm>
          <a:prstGeom prst="rect">
            <a:avLst/>
          </a:prstGeom>
          <a:noFill/>
        </p:spPr>
        <p:txBody>
          <a:bodyPr wrap="square" anchor="t"/>
          <a:lstStyle/>
          <a:p>
            <a:pPr algn="l"/>
            <a:r>
              <a:rPr sz="1200" b="1">
                <a:solidFill>
                  <a:srgbClr val="0B1220"/>
                </a:solidFill>
                <a:latin typeface="Calibri"/>
              </a:rPr>
              <a:t>IMPACT</a:t>
            </a:r>
          </a:p>
        </p:txBody>
      </p:sp>
      <p:sp>
        <p:nvSpPr>
          <p:cNvPr id="16" name="TextBox 15"/>
          <p:cNvSpPr txBox="1"/>
          <p:nvPr/>
        </p:nvSpPr>
        <p:spPr>
          <a:xfrm>
            <a:off x="8503920" y="2468880"/>
            <a:ext cx="3017520" cy="1188720"/>
          </a:xfrm>
          <a:prstGeom prst="rect">
            <a:avLst/>
          </a:prstGeom>
          <a:noFill/>
        </p:spPr>
        <p:txBody>
          <a:bodyPr wrap="square" anchor="t"/>
          <a:lstStyle/>
          <a:p>
            <a:pPr algn="l"/>
            <a:r>
              <a:rPr sz="2600" b="1">
                <a:solidFill>
                  <a:srgbClr val="0B1220"/>
                </a:solidFill>
                <a:latin typeface="Calibri"/>
              </a:rPr>
              <a:t>SPARRING
PARTNER</a:t>
            </a:r>
          </a:p>
        </p:txBody>
      </p:sp>
      <p:sp>
        <p:nvSpPr>
          <p:cNvPr id="17" name="TextBox 16"/>
          <p:cNvSpPr txBox="1"/>
          <p:nvPr/>
        </p:nvSpPr>
        <p:spPr>
          <a:xfrm>
            <a:off x="8503920" y="4023360"/>
            <a:ext cx="3017520" cy="1645920"/>
          </a:xfrm>
          <a:prstGeom prst="rect">
            <a:avLst/>
          </a:prstGeom>
          <a:noFill/>
        </p:spPr>
        <p:txBody>
          <a:bodyPr wrap="square" anchor="t"/>
          <a:lstStyle/>
          <a:p>
            <a:pPr algn="l"/>
            <a:r>
              <a:rPr sz="1600" b="0">
                <a:solidFill>
                  <a:srgbClr val="5B6577"/>
                </a:solidFill>
                <a:latin typeface="Calibri"/>
              </a:rPr>
              <a:t>Start the hard work.
Strategy bets, narratives,
stress-tested plans.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ounded Rectangle 1"/>
          <p:cNvSpPr/>
          <p:nvPr/>
        </p:nvSpPr>
        <p:spPr>
          <a:xfrm>
            <a:off x="731520" y="1188720"/>
            <a:ext cx="10698480" cy="4480560"/>
          </a:xfrm>
          <a:prstGeom prst="roundRect">
            <a:avLst>
              <a:gd name="adj" fmla="val 5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554480"/>
            <a:ext cx="9601200" cy="365760"/>
          </a:xfrm>
          <a:prstGeom prst="rect">
            <a:avLst/>
          </a:prstGeom>
          <a:noFill/>
        </p:spPr>
        <p:txBody>
          <a:bodyPr wrap="square" anchor="t"/>
          <a:lstStyle/>
          <a:p>
            <a:pPr algn="l"/>
            <a:r>
              <a:rPr sz="1200" b="1">
                <a:solidFill>
                  <a:srgbClr val="00C2A8"/>
                </a:solidFill>
                <a:latin typeface="Calibri"/>
              </a:rPr>
              <a:t>FIELD GUIDE TO FABLE</a:t>
            </a:r>
          </a:p>
        </p:txBody>
      </p:sp>
      <p:sp>
        <p:nvSpPr>
          <p:cNvPr id="4" name="TextBox 3"/>
          <p:cNvSpPr txBox="1"/>
          <p:nvPr/>
        </p:nvSpPr>
        <p:spPr>
          <a:xfrm>
            <a:off x="1188720" y="2103120"/>
            <a:ext cx="9601200" cy="2377440"/>
          </a:xfrm>
          <a:prstGeom prst="rect">
            <a:avLst/>
          </a:prstGeom>
          <a:noFill/>
        </p:spPr>
        <p:txBody>
          <a:bodyPr wrap="square" anchor="t"/>
          <a:lstStyle/>
          <a:p>
            <a:pPr algn="l"/>
            <a:r>
              <a:rPr sz="2800" b="1">
                <a:solidFill>
                  <a:srgbClr val="FFFFFF"/>
                </a:solidFill>
                <a:latin typeface="Calibri"/>
              </a:rPr>
              <a:t>Fable is the first model where quality is bottlenecked by my ability to clarify its unknowns.</a:t>
            </a:r>
          </a:p>
        </p:txBody>
      </p:sp>
      <p:sp>
        <p:nvSpPr>
          <p:cNvPr id="5" name="TextBox 4"/>
          <p:cNvSpPr txBox="1"/>
          <p:nvPr/>
        </p:nvSpPr>
        <p:spPr>
          <a:xfrm>
            <a:off x="1188720" y="4754880"/>
            <a:ext cx="9601200" cy="457200"/>
          </a:xfrm>
          <a:prstGeom prst="rect">
            <a:avLst/>
          </a:prstGeom>
          <a:noFill/>
        </p:spPr>
        <p:txBody>
          <a:bodyPr wrap="square" anchor="t"/>
          <a:lstStyle/>
          <a:p>
            <a:pPr algn="l"/>
            <a:r>
              <a:rPr sz="1500" b="0">
                <a:solidFill>
                  <a:srgbClr val="8B95A8"/>
                </a:solidFill>
                <a:latin typeface="Calibri"/>
              </a:rPr>
              <a:t>— Tariq, Claude Code team   ·   The map is not the territory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89920" cy="1188720"/>
          </a:xfrm>
          <a:prstGeom prst="rect">
            <a:avLst/>
          </a:prstGeom>
          <a:noFill/>
        </p:spPr>
        <p:txBody>
          <a:bodyPr wrap="square" anchor="t"/>
          <a:lstStyle/>
          <a:p>
            <a:pPr algn="l"/>
            <a:r>
              <a:rPr sz="3400" b="1">
                <a:solidFill>
                  <a:srgbClr val="0B1220"/>
                </a:solidFill>
                <a:latin typeface="Calibri"/>
              </a:rPr>
              <a:t>Invite the model to surface unknowns — and rerun meta-prompts every leap.</a:t>
            </a:r>
          </a:p>
        </p:txBody>
      </p:sp>
      <p:sp>
        <p:nvSpPr>
          <p:cNvPr id="4" name="Rounded Rectangle 3"/>
          <p:cNvSpPr/>
          <p:nvPr/>
        </p:nvSpPr>
        <p:spPr>
          <a:xfrm>
            <a:off x="731520" y="1828800"/>
            <a:ext cx="5303520" cy="420624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057400"/>
            <a:ext cx="4754880" cy="320040"/>
          </a:xfrm>
          <a:prstGeom prst="rect">
            <a:avLst/>
          </a:prstGeom>
          <a:noFill/>
        </p:spPr>
        <p:txBody>
          <a:bodyPr wrap="square" anchor="t"/>
          <a:lstStyle/>
          <a:p>
            <a:pPr algn="l"/>
            <a:r>
              <a:rPr sz="1300" b="1">
                <a:solidFill>
                  <a:srgbClr val="FF5A36"/>
                </a:solidFill>
                <a:latin typeface="Calibri"/>
              </a:rPr>
              <a:t>CLARIFY UNKNOWNS</a:t>
            </a:r>
          </a:p>
        </p:txBody>
      </p:sp>
      <p:sp>
        <p:nvSpPr>
          <p:cNvPr id="6" name="Rounded Rectangle 5"/>
          <p:cNvSpPr/>
          <p:nvPr/>
        </p:nvSpPr>
        <p:spPr>
          <a:xfrm>
            <a:off x="1051560" y="2606040"/>
            <a:ext cx="4754880" cy="685800"/>
          </a:xfrm>
          <a:prstGeom prst="roundRect">
            <a:avLst>
              <a:gd name="adj" fmla="val 10000"/>
            </a:avLst>
          </a:prstGeom>
          <a:solidFill>
            <a:srgbClr val="E8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770632"/>
            <a:ext cx="2194560" cy="365760"/>
          </a:xfrm>
          <a:prstGeom prst="rect">
            <a:avLst/>
          </a:prstGeom>
          <a:noFill/>
        </p:spPr>
        <p:txBody>
          <a:bodyPr wrap="square" anchor="t"/>
          <a:lstStyle/>
          <a:p>
            <a:pPr algn="l"/>
            <a:r>
              <a:rPr sz="1400" b="1">
                <a:solidFill>
                  <a:srgbClr val="0B1220"/>
                </a:solidFill>
                <a:latin typeface="Calibri"/>
              </a:rPr>
              <a:t>Known knowns</a:t>
            </a:r>
          </a:p>
        </p:txBody>
      </p:sp>
      <p:sp>
        <p:nvSpPr>
          <p:cNvPr id="8" name="TextBox 7"/>
          <p:cNvSpPr txBox="1"/>
          <p:nvPr/>
        </p:nvSpPr>
        <p:spPr>
          <a:xfrm>
            <a:off x="3474720" y="2770632"/>
            <a:ext cx="2148840" cy="365760"/>
          </a:xfrm>
          <a:prstGeom prst="rect">
            <a:avLst/>
          </a:prstGeom>
          <a:noFill/>
        </p:spPr>
        <p:txBody>
          <a:bodyPr wrap="square" anchor="t"/>
          <a:lstStyle/>
          <a:p>
            <a:pPr algn="l"/>
            <a:r>
              <a:rPr sz="1400" b="0">
                <a:solidFill>
                  <a:srgbClr val="5B6577"/>
                </a:solidFill>
                <a:latin typeface="Calibri"/>
              </a:rPr>
              <a:t>Already in the prompt</a:t>
            </a:r>
          </a:p>
        </p:txBody>
      </p:sp>
      <p:sp>
        <p:nvSpPr>
          <p:cNvPr id="9" name="Rounded Rectangle 8"/>
          <p:cNvSpPr/>
          <p:nvPr/>
        </p:nvSpPr>
        <p:spPr>
          <a:xfrm>
            <a:off x="1051560" y="3383280"/>
            <a:ext cx="4754880" cy="685800"/>
          </a:xfrm>
          <a:prstGeom prst="roundRect">
            <a:avLst>
              <a:gd name="adj" fmla="val 10000"/>
            </a:avLst>
          </a:prstGeom>
          <a:solidFill>
            <a:srgbClr val="E8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3547872"/>
            <a:ext cx="2194560" cy="365760"/>
          </a:xfrm>
          <a:prstGeom prst="rect">
            <a:avLst/>
          </a:prstGeom>
          <a:noFill/>
        </p:spPr>
        <p:txBody>
          <a:bodyPr wrap="square" anchor="t"/>
          <a:lstStyle/>
          <a:p>
            <a:pPr algn="l"/>
            <a:r>
              <a:rPr sz="1400" b="1">
                <a:solidFill>
                  <a:srgbClr val="0B1220"/>
                </a:solidFill>
                <a:latin typeface="Calibri"/>
              </a:rPr>
              <a:t>Known unknowns</a:t>
            </a:r>
          </a:p>
        </p:txBody>
      </p:sp>
      <p:sp>
        <p:nvSpPr>
          <p:cNvPr id="11" name="TextBox 10"/>
          <p:cNvSpPr txBox="1"/>
          <p:nvPr/>
        </p:nvSpPr>
        <p:spPr>
          <a:xfrm>
            <a:off x="3474720" y="3547872"/>
            <a:ext cx="2148840" cy="365760"/>
          </a:xfrm>
          <a:prstGeom prst="rect">
            <a:avLst/>
          </a:prstGeom>
          <a:noFill/>
        </p:spPr>
        <p:txBody>
          <a:bodyPr wrap="square" anchor="t"/>
          <a:lstStyle/>
          <a:p>
            <a:pPr algn="l"/>
            <a:r>
              <a:rPr sz="1400" b="0">
                <a:solidFill>
                  <a:srgbClr val="5B6577"/>
                </a:solidFill>
                <a:latin typeface="Calibri"/>
              </a:rPr>
              <a:t>Gaps you can name</a:t>
            </a:r>
          </a:p>
        </p:txBody>
      </p:sp>
      <p:sp>
        <p:nvSpPr>
          <p:cNvPr id="12" name="Rounded Rectangle 11"/>
          <p:cNvSpPr/>
          <p:nvPr/>
        </p:nvSpPr>
        <p:spPr>
          <a:xfrm>
            <a:off x="1051560" y="4160520"/>
            <a:ext cx="4754880" cy="685800"/>
          </a:xfrm>
          <a:prstGeom prst="roundRect">
            <a:avLst>
              <a:gd name="adj" fmla="val 10000"/>
            </a:avLst>
          </a:prstGeom>
          <a:solidFill>
            <a:srgbClr val="E8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325112"/>
            <a:ext cx="2194560" cy="365760"/>
          </a:xfrm>
          <a:prstGeom prst="rect">
            <a:avLst/>
          </a:prstGeom>
          <a:noFill/>
        </p:spPr>
        <p:txBody>
          <a:bodyPr wrap="square" anchor="t"/>
          <a:lstStyle/>
          <a:p>
            <a:pPr algn="l"/>
            <a:r>
              <a:rPr sz="1400" b="1">
                <a:solidFill>
                  <a:srgbClr val="0B1220"/>
                </a:solidFill>
                <a:latin typeface="Calibri"/>
              </a:rPr>
              <a:t>Unknown knowns</a:t>
            </a:r>
          </a:p>
        </p:txBody>
      </p:sp>
      <p:sp>
        <p:nvSpPr>
          <p:cNvPr id="14" name="TextBox 13"/>
          <p:cNvSpPr txBox="1"/>
          <p:nvPr/>
        </p:nvSpPr>
        <p:spPr>
          <a:xfrm>
            <a:off x="3474720" y="4325112"/>
            <a:ext cx="2148840" cy="365760"/>
          </a:xfrm>
          <a:prstGeom prst="rect">
            <a:avLst/>
          </a:prstGeom>
          <a:noFill/>
        </p:spPr>
        <p:txBody>
          <a:bodyPr wrap="square" anchor="t"/>
          <a:lstStyle/>
          <a:p>
            <a:pPr algn="l"/>
            <a:r>
              <a:rPr sz="1400" b="0">
                <a:solidFill>
                  <a:srgbClr val="5B6577"/>
                </a:solidFill>
                <a:latin typeface="Calibri"/>
              </a:rPr>
              <a:t>Obvious but unwritten</a:t>
            </a:r>
          </a:p>
        </p:txBody>
      </p:sp>
      <p:sp>
        <p:nvSpPr>
          <p:cNvPr id="15" name="Rounded Rectangle 14"/>
          <p:cNvSpPr/>
          <p:nvPr/>
        </p:nvSpPr>
        <p:spPr>
          <a:xfrm>
            <a:off x="1051560" y="4937760"/>
            <a:ext cx="4754880" cy="685800"/>
          </a:xfrm>
          <a:prstGeom prst="roundRect">
            <a:avLst>
              <a:gd name="adj" fmla="val 10000"/>
            </a:avLst>
          </a:prstGeom>
          <a:solidFill>
            <a:srgbClr val="E8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5102352"/>
            <a:ext cx="2194560" cy="365760"/>
          </a:xfrm>
          <a:prstGeom prst="rect">
            <a:avLst/>
          </a:prstGeom>
          <a:noFill/>
        </p:spPr>
        <p:txBody>
          <a:bodyPr wrap="square" anchor="t"/>
          <a:lstStyle/>
          <a:p>
            <a:pPr algn="l"/>
            <a:r>
              <a:rPr sz="1400" b="1">
                <a:solidFill>
                  <a:srgbClr val="0B1220"/>
                </a:solidFill>
                <a:latin typeface="Calibri"/>
              </a:rPr>
              <a:t>Unknown unknowns</a:t>
            </a:r>
          </a:p>
        </p:txBody>
      </p:sp>
      <p:sp>
        <p:nvSpPr>
          <p:cNvPr id="17" name="TextBox 16"/>
          <p:cNvSpPr txBox="1"/>
          <p:nvPr/>
        </p:nvSpPr>
        <p:spPr>
          <a:xfrm>
            <a:off x="3474720" y="5102352"/>
            <a:ext cx="2148840" cy="365760"/>
          </a:xfrm>
          <a:prstGeom prst="rect">
            <a:avLst/>
          </a:prstGeom>
          <a:noFill/>
        </p:spPr>
        <p:txBody>
          <a:bodyPr wrap="square" anchor="t"/>
          <a:lstStyle/>
          <a:p>
            <a:pPr algn="l"/>
            <a:r>
              <a:rPr sz="1400" b="0">
                <a:solidFill>
                  <a:srgbClr val="5B6577"/>
                </a:solidFill>
                <a:latin typeface="Calibri"/>
              </a:rPr>
              <a:t>Not considered yet</a:t>
            </a:r>
          </a:p>
        </p:txBody>
      </p:sp>
      <p:sp>
        <p:nvSpPr>
          <p:cNvPr id="18" name="Rounded Rectangle 17"/>
          <p:cNvSpPr/>
          <p:nvPr/>
        </p:nvSpPr>
        <p:spPr>
          <a:xfrm>
            <a:off x="6309360" y="1828800"/>
            <a:ext cx="5212080" cy="4206240"/>
          </a:xfrm>
          <a:prstGeom prst="roundRect">
            <a:avLst>
              <a:gd name="adj" fmla="val 6000"/>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2057400"/>
            <a:ext cx="4663440" cy="320040"/>
          </a:xfrm>
          <a:prstGeom prst="rect">
            <a:avLst/>
          </a:prstGeom>
          <a:noFill/>
        </p:spPr>
        <p:txBody>
          <a:bodyPr wrap="square" anchor="t"/>
          <a:lstStyle/>
          <a:p>
            <a:pPr algn="l"/>
            <a:r>
              <a:rPr sz="1300" b="1">
                <a:solidFill>
                  <a:srgbClr val="00C2A8"/>
                </a:solidFill>
                <a:latin typeface="Calibri"/>
              </a:rPr>
              <a:t>META-PROMPTS TO RERUN</a:t>
            </a:r>
          </a:p>
        </p:txBody>
      </p:sp>
      <p:sp>
        <p:nvSpPr>
          <p:cNvPr id="20" name="TextBox 19"/>
          <p:cNvSpPr txBox="1"/>
          <p:nvPr/>
        </p:nvSpPr>
        <p:spPr>
          <a:xfrm>
            <a:off x="6629400" y="2606040"/>
            <a:ext cx="4663440" cy="3108960"/>
          </a:xfrm>
          <a:prstGeom prst="rect">
            <a:avLst/>
          </a:prstGeom>
          <a:noFill/>
        </p:spPr>
        <p:txBody>
          <a:bodyPr wrap="square">
            <a:spAutoFit/>
          </a:bodyPr>
          <a:lstStyle/>
          <a:p>
            <a:pPr algn="l">
              <a:spcBef>
                <a:spcPts val="0"/>
              </a:spcBef>
              <a:spcAft>
                <a:spcPts val="1000"/>
              </a:spcAft>
            </a:pPr>
            <a:r>
              <a:rPr sz="1500" b="1">
                <a:solidFill>
                  <a:srgbClr val="00C2A8"/>
                </a:solidFill>
                <a:latin typeface="Calibri"/>
              </a:rPr>
              <a:t>▸  </a:t>
            </a:r>
            <a:r>
              <a:rPr sz="1500" b="0">
                <a:solidFill>
                  <a:srgbClr val="FFFFFF"/>
                </a:solidFill>
                <a:latin typeface="Calibri"/>
              </a:rPr>
              <a:t>Self-model audit of stale harness context</a:t>
            </a:r>
          </a:p>
          <a:p>
            <a:pPr algn="l">
              <a:spcBef>
                <a:spcPts val="800"/>
              </a:spcBef>
              <a:spcAft>
                <a:spcPts val="1000"/>
              </a:spcAft>
            </a:pPr>
            <a:r>
              <a:rPr sz="1500" b="1">
                <a:solidFill>
                  <a:srgbClr val="00C2A8"/>
                </a:solidFill>
                <a:latin typeface="Calibri"/>
              </a:rPr>
              <a:t>▸  </a:t>
            </a:r>
            <a:r>
              <a:rPr sz="1500" b="0">
                <a:solidFill>
                  <a:srgbClr val="FFFFFF"/>
                </a:solidFill>
                <a:latin typeface="Calibri"/>
              </a:rPr>
              <a:t>Compare files to recent real behavior</a:t>
            </a:r>
          </a:p>
          <a:p>
            <a:pPr algn="l">
              <a:spcBef>
                <a:spcPts val="800"/>
              </a:spcBef>
              <a:spcAft>
                <a:spcPts val="1000"/>
              </a:spcAft>
            </a:pPr>
            <a:r>
              <a:rPr sz="1500" b="1">
                <a:solidFill>
                  <a:srgbClr val="00C2A8"/>
                </a:solidFill>
                <a:latin typeface="Calibri"/>
              </a:rPr>
              <a:t>▸  </a:t>
            </a:r>
            <a:r>
              <a:rPr sz="1500" b="0">
                <a:solidFill>
                  <a:srgbClr val="FFFFFF"/>
                </a:solidFill>
                <a:latin typeface="Calibri"/>
              </a:rPr>
              <a:t>Run big-picture priority and ikigai prompts</a:t>
            </a:r>
          </a:p>
          <a:p>
            <a:pPr algn="l">
              <a:spcBef>
                <a:spcPts val="800"/>
              </a:spcBef>
              <a:spcAft>
                <a:spcPts val="1000"/>
              </a:spcAft>
            </a:pPr>
            <a:r>
              <a:rPr sz="1500" b="1">
                <a:solidFill>
                  <a:srgbClr val="00C2A8"/>
                </a:solidFill>
                <a:latin typeface="Calibri"/>
              </a:rPr>
              <a:t>▸  </a:t>
            </a:r>
            <a:r>
              <a:rPr sz="1500" b="0">
                <a:solidFill>
                  <a:srgbClr val="FFFFFF"/>
                </a:solidFill>
                <a:latin typeface="Calibri"/>
              </a:rPr>
              <a:t>Refresh agents.md when intelligence jumps</a:t>
            </a:r>
          </a:p>
          <a:p>
            <a:pPr algn="l">
              <a:spcBef>
                <a:spcPts val="800"/>
              </a:spcBef>
              <a:spcAft>
                <a:spcPts val="1000"/>
              </a:spcAft>
            </a:pPr>
            <a:r>
              <a:rPr sz="1500" b="1">
                <a:solidFill>
                  <a:srgbClr val="00C2A8"/>
                </a:solidFill>
                <a:latin typeface="Calibri"/>
              </a:rPr>
              <a:t>▸  </a:t>
            </a:r>
            <a:r>
              <a:rPr sz="1500" b="0">
                <a:solidFill>
                  <a:srgbClr val="FFFFFF"/>
                </a:solidFill>
                <a:latin typeface="Calibri"/>
              </a:rPr>
              <a:t>Treat each release as context-hygiene 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1188720"/>
            <a:ext cx="10424160" cy="365760"/>
          </a:xfrm>
          <a:prstGeom prst="rect">
            <a:avLst/>
          </a:prstGeom>
          <a:noFill/>
        </p:spPr>
        <p:txBody>
          <a:bodyPr wrap="square" anchor="t"/>
          <a:lstStyle/>
          <a:p>
            <a:pPr algn="l"/>
            <a:r>
              <a:rPr sz="1300" b="1">
                <a:solidFill>
                  <a:srgbClr val="FF5A36"/>
                </a:solidFill>
                <a:latin typeface="Calibri"/>
              </a:rPr>
              <a:t>NEW INTERACTION PATTERN</a:t>
            </a:r>
          </a:p>
        </p:txBody>
      </p:sp>
      <p:sp>
        <p:nvSpPr>
          <p:cNvPr id="3" name="TextBox 2"/>
          <p:cNvSpPr txBox="1"/>
          <p:nvPr/>
        </p:nvSpPr>
        <p:spPr>
          <a:xfrm>
            <a:off x="822960" y="1737360"/>
            <a:ext cx="10424160" cy="2011680"/>
          </a:xfrm>
          <a:prstGeom prst="rect">
            <a:avLst/>
          </a:prstGeom>
          <a:noFill/>
        </p:spPr>
        <p:txBody>
          <a:bodyPr wrap="square" anchor="t"/>
          <a:lstStyle/>
          <a:p>
            <a:pPr algn="l"/>
            <a:r>
              <a:rPr sz="3400" b="1">
                <a:solidFill>
                  <a:srgbClr val="FFFFFF"/>
                </a:solidFill>
                <a:latin typeface="Calibri"/>
              </a:rPr>
              <a:t>Don't use adjectives. Give Fable a bar it can check — then loop until it hits.</a:t>
            </a:r>
          </a:p>
        </p:txBody>
      </p:sp>
      <p:sp>
        <p:nvSpPr>
          <p:cNvPr id="4" name="Rounded Rectangle 3"/>
          <p:cNvSpPr/>
          <p:nvPr/>
        </p:nvSpPr>
        <p:spPr>
          <a:xfrm>
            <a:off x="822960" y="4114800"/>
            <a:ext cx="10424160" cy="1828800"/>
          </a:xfrm>
          <a:prstGeom prst="roundRect">
            <a:avLst>
              <a:gd name="adj" fmla="val 6000"/>
            </a:avLst>
          </a:prstGeom>
          <a:solidFill>
            <a:srgbClr val="1C2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4389120"/>
            <a:ext cx="9692640" cy="1280160"/>
          </a:xfrm>
          <a:prstGeom prst="rect">
            <a:avLst/>
          </a:prstGeom>
          <a:noFill/>
        </p:spPr>
        <p:txBody>
          <a:bodyPr wrap="square" anchor="t"/>
          <a:lstStyle/>
          <a:p>
            <a:pPr algn="l"/>
            <a:r>
              <a:rPr sz="1800" b="0">
                <a:solidFill>
                  <a:srgbClr val="FFFFFF"/>
                </a:solidFill>
                <a:latin typeface="Calibri"/>
              </a:rPr>
              <a:t>“A stranger can't tell our render from the real photo.”
Build → check → close the biggest gap → go again. Fable never decides it's finished.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640080" y="320040"/>
            <a:ext cx="10972800" cy="1097280"/>
          </a:xfrm>
          <a:prstGeom prst="rect">
            <a:avLst/>
          </a:prstGeom>
          <a:noFill/>
        </p:spPr>
        <p:txBody>
          <a:bodyPr wrap="square" anchor="t"/>
          <a:lstStyle/>
          <a:p>
            <a:pPr algn="l"/>
            <a:r>
              <a:rPr sz="3600" b="1">
                <a:solidFill>
                  <a:srgbClr val="0B1220"/>
                </a:solidFill>
                <a:latin typeface="Calibri"/>
              </a:rPr>
              <a:t>Four loop types turn one-shot prompts into goal-seeking systems.</a:t>
            </a:r>
          </a:p>
        </p:txBody>
      </p:sp>
      <p:sp>
        <p:nvSpPr>
          <p:cNvPr id="3" name="Rounded Rectangle 2"/>
          <p:cNvSpPr/>
          <p:nvPr/>
        </p:nvSpPr>
        <p:spPr>
          <a:xfrm>
            <a:off x="640080" y="1645920"/>
            <a:ext cx="5257800" cy="2194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45920"/>
            <a:ext cx="128016" cy="219456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1097280" cy="411480"/>
          </a:xfrm>
          <a:prstGeom prst="rect">
            <a:avLst/>
          </a:prstGeom>
          <a:noFill/>
        </p:spPr>
        <p:txBody>
          <a:bodyPr wrap="square" anchor="t"/>
          <a:lstStyle/>
          <a:p>
            <a:pPr algn="l"/>
            <a:r>
              <a:rPr sz="2200" b="1">
                <a:solidFill>
                  <a:srgbClr val="00C2A8"/>
                </a:solidFill>
                <a:latin typeface="Calibri"/>
              </a:rPr>
              <a:t>01</a:t>
            </a:r>
          </a:p>
        </p:txBody>
      </p:sp>
      <p:sp>
        <p:nvSpPr>
          <p:cNvPr id="6" name="TextBox 5"/>
          <p:cNvSpPr txBox="1"/>
          <p:nvPr/>
        </p:nvSpPr>
        <p:spPr>
          <a:xfrm>
            <a:off x="2103120" y="1965960"/>
            <a:ext cx="3383280" cy="411480"/>
          </a:xfrm>
          <a:prstGeom prst="rect">
            <a:avLst/>
          </a:prstGeom>
          <a:noFill/>
        </p:spPr>
        <p:txBody>
          <a:bodyPr wrap="square" anchor="t"/>
          <a:lstStyle/>
          <a:p>
            <a:pPr algn="l"/>
            <a:r>
              <a:rPr sz="2200" b="1">
                <a:solidFill>
                  <a:srgbClr val="0B1220"/>
                </a:solidFill>
                <a:latin typeface="Calibri"/>
              </a:rPr>
              <a:t>Turn-based</a:t>
            </a:r>
          </a:p>
        </p:txBody>
      </p:sp>
      <p:sp>
        <p:nvSpPr>
          <p:cNvPr id="7" name="TextBox 6"/>
          <p:cNvSpPr txBox="1"/>
          <p:nvPr/>
        </p:nvSpPr>
        <p:spPr>
          <a:xfrm>
            <a:off x="1005840" y="2651760"/>
            <a:ext cx="4572000" cy="914400"/>
          </a:xfrm>
          <a:prstGeom prst="rect">
            <a:avLst/>
          </a:prstGeom>
          <a:noFill/>
        </p:spPr>
        <p:txBody>
          <a:bodyPr wrap="square" anchor="t"/>
          <a:lstStyle/>
          <a:p>
            <a:pPr algn="l"/>
            <a:r>
              <a:rPr sz="1500" b="0">
                <a:solidFill>
                  <a:srgbClr val="5B6577"/>
                </a:solidFill>
                <a:latin typeface="Calibri"/>
              </a:rPr>
              <a:t>You direct each turn.
Best for short, one-off tasks.</a:t>
            </a:r>
          </a:p>
        </p:txBody>
      </p:sp>
      <p:sp>
        <p:nvSpPr>
          <p:cNvPr id="8" name="Rounded Rectangle 7"/>
          <p:cNvSpPr/>
          <p:nvPr/>
        </p:nvSpPr>
        <p:spPr>
          <a:xfrm>
            <a:off x="6263640" y="1645920"/>
            <a:ext cx="5257800" cy="2194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645920"/>
            <a:ext cx="128016" cy="2194560"/>
          </a:xfrm>
          <a:prstGeom prst="rect">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920240"/>
            <a:ext cx="1097280" cy="411480"/>
          </a:xfrm>
          <a:prstGeom prst="rect">
            <a:avLst/>
          </a:prstGeom>
          <a:noFill/>
        </p:spPr>
        <p:txBody>
          <a:bodyPr wrap="square" anchor="t"/>
          <a:lstStyle/>
          <a:p>
            <a:pPr algn="l"/>
            <a:r>
              <a:rPr sz="2200" b="1">
                <a:solidFill>
                  <a:srgbClr val="FF5A36"/>
                </a:solidFill>
                <a:latin typeface="Calibri"/>
              </a:rPr>
              <a:t>02</a:t>
            </a:r>
          </a:p>
        </p:txBody>
      </p:sp>
      <p:sp>
        <p:nvSpPr>
          <p:cNvPr id="11" name="TextBox 10"/>
          <p:cNvSpPr txBox="1"/>
          <p:nvPr/>
        </p:nvSpPr>
        <p:spPr>
          <a:xfrm>
            <a:off x="7726680" y="1965960"/>
            <a:ext cx="3383280" cy="411480"/>
          </a:xfrm>
          <a:prstGeom prst="rect">
            <a:avLst/>
          </a:prstGeom>
          <a:noFill/>
        </p:spPr>
        <p:txBody>
          <a:bodyPr wrap="square" anchor="t"/>
          <a:lstStyle/>
          <a:p>
            <a:pPr algn="l"/>
            <a:r>
              <a:rPr sz="2200" b="1">
                <a:solidFill>
                  <a:srgbClr val="0B1220"/>
                </a:solidFill>
                <a:latin typeface="Calibri"/>
              </a:rPr>
              <a:t>Goal-based</a:t>
            </a:r>
          </a:p>
        </p:txBody>
      </p:sp>
      <p:sp>
        <p:nvSpPr>
          <p:cNvPr id="12" name="TextBox 11"/>
          <p:cNvSpPr txBox="1"/>
          <p:nvPr/>
        </p:nvSpPr>
        <p:spPr>
          <a:xfrm>
            <a:off x="6629400" y="2651760"/>
            <a:ext cx="4572000" cy="914400"/>
          </a:xfrm>
          <a:prstGeom prst="rect">
            <a:avLst/>
          </a:prstGeom>
          <a:noFill/>
        </p:spPr>
        <p:txBody>
          <a:bodyPr wrap="square" anchor="t"/>
          <a:lstStyle/>
          <a:p>
            <a:pPr algn="l"/>
            <a:r>
              <a:rPr sz="1500" b="0">
                <a:solidFill>
                  <a:srgbClr val="5B6577"/>
                </a:solidFill>
                <a:latin typeface="Calibri"/>
              </a:rPr>
              <a:t>Evaluator enforces criteria.
Stops at success or max turns.</a:t>
            </a:r>
          </a:p>
        </p:txBody>
      </p:sp>
      <p:sp>
        <p:nvSpPr>
          <p:cNvPr id="13" name="Rounded Rectangle 12"/>
          <p:cNvSpPr/>
          <p:nvPr/>
        </p:nvSpPr>
        <p:spPr>
          <a:xfrm>
            <a:off x="640080" y="4114800"/>
            <a:ext cx="5257800" cy="2194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114800"/>
            <a:ext cx="128016" cy="219456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389120"/>
            <a:ext cx="1097280" cy="411480"/>
          </a:xfrm>
          <a:prstGeom prst="rect">
            <a:avLst/>
          </a:prstGeom>
          <a:noFill/>
        </p:spPr>
        <p:txBody>
          <a:bodyPr wrap="square" anchor="t"/>
          <a:lstStyle/>
          <a:p>
            <a:pPr algn="l"/>
            <a:r>
              <a:rPr sz="2200" b="1">
                <a:solidFill>
                  <a:srgbClr val="0B1220"/>
                </a:solidFill>
                <a:latin typeface="Calibri"/>
              </a:rPr>
              <a:t>03</a:t>
            </a:r>
          </a:p>
        </p:txBody>
      </p:sp>
      <p:sp>
        <p:nvSpPr>
          <p:cNvPr id="16" name="TextBox 15"/>
          <p:cNvSpPr txBox="1"/>
          <p:nvPr/>
        </p:nvSpPr>
        <p:spPr>
          <a:xfrm>
            <a:off x="2103120" y="4434840"/>
            <a:ext cx="3383280" cy="411480"/>
          </a:xfrm>
          <a:prstGeom prst="rect">
            <a:avLst/>
          </a:prstGeom>
          <a:noFill/>
        </p:spPr>
        <p:txBody>
          <a:bodyPr wrap="square" anchor="t"/>
          <a:lstStyle/>
          <a:p>
            <a:pPr algn="l"/>
            <a:r>
              <a:rPr sz="2200" b="1">
                <a:solidFill>
                  <a:srgbClr val="0B1220"/>
                </a:solidFill>
                <a:latin typeface="Calibri"/>
              </a:rPr>
              <a:t>Time-based</a:t>
            </a:r>
          </a:p>
        </p:txBody>
      </p:sp>
      <p:sp>
        <p:nvSpPr>
          <p:cNvPr id="17" name="TextBox 16"/>
          <p:cNvSpPr txBox="1"/>
          <p:nvPr/>
        </p:nvSpPr>
        <p:spPr>
          <a:xfrm>
            <a:off x="1005840" y="5120640"/>
            <a:ext cx="4572000" cy="914400"/>
          </a:xfrm>
          <a:prstGeom prst="rect">
            <a:avLst/>
          </a:prstGeom>
          <a:noFill/>
        </p:spPr>
        <p:txBody>
          <a:bodyPr wrap="square" anchor="t"/>
          <a:lstStyle/>
          <a:p>
            <a:pPr algn="l"/>
            <a:r>
              <a:rPr sz="1500" b="0">
                <a:solidFill>
                  <a:srgbClr val="5B6577"/>
                </a:solidFill>
                <a:latin typeface="Calibri"/>
              </a:rPr>
              <a:t>Triggered on an interval.
Built for recurring work.</a:t>
            </a:r>
          </a:p>
        </p:txBody>
      </p:sp>
      <p:sp>
        <p:nvSpPr>
          <p:cNvPr id="18" name="Rounded Rectangle 17"/>
          <p:cNvSpPr/>
          <p:nvPr/>
        </p:nvSpPr>
        <p:spPr>
          <a:xfrm>
            <a:off x="6263640" y="4114800"/>
            <a:ext cx="5257800" cy="21945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4114800"/>
            <a:ext cx="128016" cy="2194560"/>
          </a:xfrm>
          <a:prstGeom prst="rect">
            <a:avLst/>
          </a:prstGeom>
          <a:solidFill>
            <a:srgbClr val="008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9400" y="4389120"/>
            <a:ext cx="1097280" cy="411480"/>
          </a:xfrm>
          <a:prstGeom prst="rect">
            <a:avLst/>
          </a:prstGeom>
          <a:noFill/>
        </p:spPr>
        <p:txBody>
          <a:bodyPr wrap="square" anchor="t"/>
          <a:lstStyle/>
          <a:p>
            <a:pPr algn="l"/>
            <a:r>
              <a:rPr sz="2200" b="1">
                <a:solidFill>
                  <a:srgbClr val="008F7A"/>
                </a:solidFill>
                <a:latin typeface="Calibri"/>
              </a:rPr>
              <a:t>04</a:t>
            </a:r>
          </a:p>
        </p:txBody>
      </p:sp>
      <p:sp>
        <p:nvSpPr>
          <p:cNvPr id="21" name="TextBox 20"/>
          <p:cNvSpPr txBox="1"/>
          <p:nvPr/>
        </p:nvSpPr>
        <p:spPr>
          <a:xfrm>
            <a:off x="7726680" y="4434840"/>
            <a:ext cx="3383280" cy="411480"/>
          </a:xfrm>
          <a:prstGeom prst="rect">
            <a:avLst/>
          </a:prstGeom>
          <a:noFill/>
        </p:spPr>
        <p:txBody>
          <a:bodyPr wrap="square" anchor="t"/>
          <a:lstStyle/>
          <a:p>
            <a:pPr algn="l"/>
            <a:r>
              <a:rPr sz="2200" b="1">
                <a:solidFill>
                  <a:srgbClr val="0B1220"/>
                </a:solidFill>
                <a:latin typeface="Calibri"/>
              </a:rPr>
              <a:t>Proactive</a:t>
            </a:r>
          </a:p>
        </p:txBody>
      </p:sp>
      <p:sp>
        <p:nvSpPr>
          <p:cNvPr id="22" name="TextBox 21"/>
          <p:cNvSpPr txBox="1"/>
          <p:nvPr/>
        </p:nvSpPr>
        <p:spPr>
          <a:xfrm>
            <a:off x="6629400" y="5120640"/>
            <a:ext cx="4572000" cy="914400"/>
          </a:xfrm>
          <a:prstGeom prst="rect">
            <a:avLst/>
          </a:prstGeom>
          <a:noFill/>
        </p:spPr>
        <p:txBody>
          <a:bodyPr wrap="square" anchor="t"/>
          <a:lstStyle/>
          <a:p>
            <a:pPr algn="l"/>
            <a:r>
              <a:rPr sz="1500" b="0">
                <a:solidFill>
                  <a:srgbClr val="5B6577"/>
                </a:solidFill>
                <a:latin typeface="Calibri"/>
              </a:rPr>
              <a:t>Event or schedule starts it.
No human needed in real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554480"/>
            <a:ext cx="10241280" cy="2286000"/>
          </a:xfrm>
          <a:prstGeom prst="rect">
            <a:avLst/>
          </a:prstGeom>
          <a:noFill/>
        </p:spPr>
        <p:txBody>
          <a:bodyPr wrap="square" anchor="t"/>
          <a:lstStyle/>
          <a:p>
            <a:pPr algn="l"/>
            <a:r>
              <a:rPr sz="3400" b="1">
                <a:solidFill>
                  <a:srgbClr val="FFFFFF"/>
                </a:solidFill>
                <a:latin typeface="Calibri"/>
              </a:rPr>
              <a:t>Organizations keep using AI for the same work — just faster, cheaper, slightly better.</a:t>
            </a:r>
          </a:p>
        </p:txBody>
      </p:sp>
      <p:sp>
        <p:nvSpPr>
          <p:cNvPr id="4" name="TextBox 3"/>
          <p:cNvSpPr txBox="1"/>
          <p:nvPr/>
        </p:nvSpPr>
        <p:spPr>
          <a:xfrm>
            <a:off x="914400" y="4114800"/>
            <a:ext cx="10241280" cy="1280160"/>
          </a:xfrm>
          <a:prstGeom prst="rect">
            <a:avLst/>
          </a:prstGeom>
          <a:noFill/>
        </p:spPr>
        <p:txBody>
          <a:bodyPr wrap="square" anchor="t"/>
          <a:lstStyle/>
          <a:p>
            <a:pPr algn="l"/>
            <a:r>
              <a:rPr sz="2000" b="1">
                <a:solidFill>
                  <a:srgbClr val="00C2A8"/>
                </a:solidFill>
                <a:latin typeface="Calibri"/>
              </a:rPr>
              <a:t>The unlock is a new relationship with work — and categories of work that weren't possible before.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141732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777240"/>
          </a:xfrm>
          <a:prstGeom prst="rect">
            <a:avLst/>
          </a:prstGeom>
          <a:noFill/>
        </p:spPr>
        <p:txBody>
          <a:bodyPr wrap="square" anchor="t"/>
          <a:lstStyle/>
          <a:p>
            <a:pPr algn="l"/>
            <a:r>
              <a:rPr sz="3600" b="1">
                <a:solidFill>
                  <a:srgbClr val="FFFFFF"/>
                </a:solidFill>
                <a:latin typeface="Calibri"/>
              </a:rPr>
              <a:t>What to do differently starting today</a:t>
            </a:r>
          </a:p>
        </p:txBody>
      </p:sp>
      <p:sp>
        <p:nvSpPr>
          <p:cNvPr id="4" name="Rounded Rectangle 3"/>
          <p:cNvSpPr/>
          <p:nvPr/>
        </p:nvSpPr>
        <p:spPr>
          <a:xfrm>
            <a:off x="640080" y="1783080"/>
            <a:ext cx="10881360" cy="777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947672"/>
            <a:ext cx="457200" cy="457200"/>
          </a:xfrm>
          <a:prstGeom prst="roundRect">
            <a:avLst>
              <a:gd name="adj" fmla="val 20000"/>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11680"/>
            <a:ext cx="365760" cy="365760"/>
          </a:xfrm>
          <a:prstGeom prst="rect">
            <a:avLst/>
          </a:prstGeom>
          <a:noFill/>
        </p:spPr>
        <p:txBody>
          <a:bodyPr wrap="square" anchor="t"/>
          <a:lstStyle/>
          <a:p>
            <a:pPr algn="ctr"/>
            <a:r>
              <a:rPr sz="1600" b="1">
                <a:solidFill>
                  <a:srgbClr val="FFFFFF"/>
                </a:solidFill>
                <a:latin typeface="Calibri"/>
              </a:rPr>
              <a:t>1</a:t>
            </a:r>
          </a:p>
        </p:txBody>
      </p:sp>
      <p:sp>
        <p:nvSpPr>
          <p:cNvPr id="7" name="TextBox 6"/>
          <p:cNvSpPr txBox="1"/>
          <p:nvPr/>
        </p:nvSpPr>
        <p:spPr>
          <a:xfrm>
            <a:off x="1554480" y="1984248"/>
            <a:ext cx="9601200" cy="457200"/>
          </a:xfrm>
          <a:prstGeom prst="rect">
            <a:avLst/>
          </a:prstGeom>
          <a:noFill/>
        </p:spPr>
        <p:txBody>
          <a:bodyPr wrap="square" anchor="t"/>
          <a:lstStyle/>
          <a:p>
            <a:pPr algn="l"/>
            <a:r>
              <a:rPr sz="1800" b="1">
                <a:solidFill>
                  <a:srgbClr val="0B1220"/>
                </a:solidFill>
                <a:latin typeface="Calibri"/>
              </a:rPr>
              <a:t>Set explicit boundaries for tenacious models</a:t>
            </a:r>
          </a:p>
        </p:txBody>
      </p:sp>
      <p:sp>
        <p:nvSpPr>
          <p:cNvPr id="8" name="Rounded Rectangle 7"/>
          <p:cNvSpPr/>
          <p:nvPr/>
        </p:nvSpPr>
        <p:spPr>
          <a:xfrm>
            <a:off x="640080" y="2697480"/>
            <a:ext cx="10881360" cy="777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862072"/>
            <a:ext cx="457200" cy="457200"/>
          </a:xfrm>
          <a:prstGeom prst="roundRect">
            <a:avLst>
              <a:gd name="adj" fmla="val 20000"/>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26080"/>
            <a:ext cx="365760" cy="365760"/>
          </a:xfrm>
          <a:prstGeom prst="rect">
            <a:avLst/>
          </a:prstGeom>
          <a:noFill/>
        </p:spPr>
        <p:txBody>
          <a:bodyPr wrap="square" anchor="t"/>
          <a:lstStyle/>
          <a:p>
            <a:pPr algn="ctr"/>
            <a:r>
              <a:rPr sz="1600" b="1">
                <a:solidFill>
                  <a:srgbClr val="FFFFFF"/>
                </a:solidFill>
                <a:latin typeface="Calibri"/>
              </a:rPr>
              <a:t>2</a:t>
            </a:r>
          </a:p>
        </p:txBody>
      </p:sp>
      <p:sp>
        <p:nvSpPr>
          <p:cNvPr id="11" name="TextBox 10"/>
          <p:cNvSpPr txBox="1"/>
          <p:nvPr/>
        </p:nvSpPr>
        <p:spPr>
          <a:xfrm>
            <a:off x="1554480" y="2898648"/>
            <a:ext cx="9601200" cy="457200"/>
          </a:xfrm>
          <a:prstGeom prst="rect">
            <a:avLst/>
          </a:prstGeom>
          <a:noFill/>
        </p:spPr>
        <p:txBody>
          <a:bodyPr wrap="square" anchor="t"/>
          <a:lstStyle/>
          <a:p>
            <a:pPr algn="l"/>
            <a:r>
              <a:rPr sz="1800" b="1">
                <a:solidFill>
                  <a:srgbClr val="0B1220"/>
                </a:solidFill>
                <a:latin typeface="Calibri"/>
              </a:rPr>
              <a:t>Delete repeated rules; match Sol/Terra/Luna and effort</a:t>
            </a:r>
          </a:p>
        </p:txBody>
      </p:sp>
      <p:sp>
        <p:nvSpPr>
          <p:cNvPr id="12" name="Rounded Rectangle 11"/>
          <p:cNvSpPr/>
          <p:nvPr/>
        </p:nvSpPr>
        <p:spPr>
          <a:xfrm>
            <a:off x="640080" y="3611880"/>
            <a:ext cx="10881360" cy="777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776472"/>
            <a:ext cx="457200" cy="457200"/>
          </a:xfrm>
          <a:prstGeom prst="roundRect">
            <a:avLst>
              <a:gd name="adj" fmla="val 20000"/>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840480"/>
            <a:ext cx="365760" cy="365760"/>
          </a:xfrm>
          <a:prstGeom prst="rect">
            <a:avLst/>
          </a:prstGeom>
          <a:noFill/>
        </p:spPr>
        <p:txBody>
          <a:bodyPr wrap="square" anchor="t"/>
          <a:lstStyle/>
          <a:p>
            <a:pPr algn="ctr"/>
            <a:r>
              <a:rPr sz="1600" b="1">
                <a:solidFill>
                  <a:srgbClr val="FFFFFF"/>
                </a:solidFill>
                <a:latin typeface="Calibri"/>
              </a:rPr>
              <a:t>3</a:t>
            </a:r>
          </a:p>
        </p:txBody>
      </p:sp>
      <p:sp>
        <p:nvSpPr>
          <p:cNvPr id="15" name="TextBox 14"/>
          <p:cNvSpPr txBox="1"/>
          <p:nvPr/>
        </p:nvSpPr>
        <p:spPr>
          <a:xfrm>
            <a:off x="1554480" y="3813048"/>
            <a:ext cx="9601200" cy="457200"/>
          </a:xfrm>
          <a:prstGeom prst="rect">
            <a:avLst/>
          </a:prstGeom>
          <a:noFill/>
        </p:spPr>
        <p:txBody>
          <a:bodyPr wrap="square" anchor="t"/>
          <a:lstStyle/>
          <a:p>
            <a:pPr algn="l"/>
            <a:r>
              <a:rPr sz="1800" b="1">
                <a:solidFill>
                  <a:srgbClr val="0B1220"/>
                </a:solidFill>
                <a:latin typeface="Calibri"/>
              </a:rPr>
              <a:t>Automate optics; co-pilot execution; spar on impact</a:t>
            </a:r>
          </a:p>
        </p:txBody>
      </p:sp>
      <p:sp>
        <p:nvSpPr>
          <p:cNvPr id="16" name="Rounded Rectangle 15"/>
          <p:cNvSpPr/>
          <p:nvPr/>
        </p:nvSpPr>
        <p:spPr>
          <a:xfrm>
            <a:off x="640080" y="4526280"/>
            <a:ext cx="10881360" cy="777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 y="4690872"/>
            <a:ext cx="457200" cy="457200"/>
          </a:xfrm>
          <a:prstGeom prst="roundRect">
            <a:avLst>
              <a:gd name="adj" fmla="val 20000"/>
            </a:avLst>
          </a:prstGeom>
          <a:solidFill>
            <a:srgbClr val="FF5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754880"/>
            <a:ext cx="365760" cy="365760"/>
          </a:xfrm>
          <a:prstGeom prst="rect">
            <a:avLst/>
          </a:prstGeom>
          <a:noFill/>
        </p:spPr>
        <p:txBody>
          <a:bodyPr wrap="square" anchor="t"/>
          <a:lstStyle/>
          <a:p>
            <a:pPr algn="ctr"/>
            <a:r>
              <a:rPr sz="1600" b="1">
                <a:solidFill>
                  <a:srgbClr val="FFFFFF"/>
                </a:solidFill>
                <a:latin typeface="Calibri"/>
              </a:rPr>
              <a:t>4</a:t>
            </a:r>
          </a:p>
        </p:txBody>
      </p:sp>
      <p:sp>
        <p:nvSpPr>
          <p:cNvPr id="19" name="TextBox 18"/>
          <p:cNvSpPr txBox="1"/>
          <p:nvPr/>
        </p:nvSpPr>
        <p:spPr>
          <a:xfrm>
            <a:off x="1554480" y="4727448"/>
            <a:ext cx="9601200" cy="457200"/>
          </a:xfrm>
          <a:prstGeom prst="rect">
            <a:avLst/>
          </a:prstGeom>
          <a:noFill/>
        </p:spPr>
        <p:txBody>
          <a:bodyPr wrap="square" anchor="t"/>
          <a:lstStyle/>
          <a:p>
            <a:pPr algn="l"/>
            <a:r>
              <a:rPr sz="1800" b="1">
                <a:solidFill>
                  <a:srgbClr val="0B1220"/>
                </a:solidFill>
                <a:latin typeface="Calibri"/>
              </a:rPr>
              <a:t>Clarify unknowns; refresh harness on every leap</a:t>
            </a:r>
          </a:p>
        </p:txBody>
      </p:sp>
      <p:sp>
        <p:nvSpPr>
          <p:cNvPr id="20" name="Rounded Rectangle 19"/>
          <p:cNvSpPr/>
          <p:nvPr/>
        </p:nvSpPr>
        <p:spPr>
          <a:xfrm>
            <a:off x="640080" y="5440680"/>
            <a:ext cx="10881360" cy="777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2960" y="5605272"/>
            <a:ext cx="457200" cy="457200"/>
          </a:xfrm>
          <a:prstGeom prst="roundRect">
            <a:avLst>
              <a:gd name="adj" fmla="val 20000"/>
            </a:avLst>
          </a:prstGeom>
          <a:solidFill>
            <a:srgbClr val="00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669280"/>
            <a:ext cx="365760" cy="365760"/>
          </a:xfrm>
          <a:prstGeom prst="rect">
            <a:avLst/>
          </a:prstGeom>
          <a:noFill/>
        </p:spPr>
        <p:txBody>
          <a:bodyPr wrap="square" anchor="t"/>
          <a:lstStyle/>
          <a:p>
            <a:pPr algn="ctr"/>
            <a:r>
              <a:rPr sz="1600" b="1">
                <a:solidFill>
                  <a:srgbClr val="FFFFFF"/>
                </a:solidFill>
                <a:latin typeface="Calibri"/>
              </a:rPr>
              <a:t>5</a:t>
            </a:r>
          </a:p>
        </p:txBody>
      </p:sp>
      <p:sp>
        <p:nvSpPr>
          <p:cNvPr id="23" name="TextBox 22"/>
          <p:cNvSpPr txBox="1"/>
          <p:nvPr/>
        </p:nvSpPr>
        <p:spPr>
          <a:xfrm>
            <a:off x="1554480" y="5641848"/>
            <a:ext cx="9601200" cy="457200"/>
          </a:xfrm>
          <a:prstGeom prst="rect">
            <a:avLst/>
          </a:prstGeom>
          <a:noFill/>
        </p:spPr>
        <p:txBody>
          <a:bodyPr wrap="square" anchor="t"/>
          <a:lstStyle/>
          <a:p>
            <a:pPr algn="l"/>
            <a:r>
              <a:rPr sz="1800" b="1">
                <a:solidFill>
                  <a:srgbClr val="0B1220"/>
                </a:solidFill>
                <a:latin typeface="Calibri"/>
              </a:rPr>
              <a:t>Replace quality adjectives with loops against a hard bar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