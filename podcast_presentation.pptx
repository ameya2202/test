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Open by naming the paradox: products like ChatGPT and Claude already feel like they know the user and the company — but most builders cannot explain the memory stack underneath.</a:t>
            </a:r>
          </a:p>
          <a:p/>
          <a:p>
            <a:r>
              <a:t>TRANSCRIPT SUPPORT: Opening — “you're probably already using a memory system without even realizing it.”</a:t>
            </a:r>
          </a:p>
          <a:p/>
          <a:p>
            <a:r>
              <a:t>AUDIENCE SHOULD: Feel oriented and curious; understand this is an architecture briefing, not a product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Ground the room in lived experience. Memory is not a future feature; it’s already shipping in mainstream tools.</a:t>
            </a:r>
          </a:p>
          <a:p/>
          <a:p>
            <a:r>
              <a:t>TRANSCRIPT SUPPORT: “when you ask your AI tool about who you are and the question that you asked them for the past week, they all know what's going on.” Also founders: sometimes they remember the company without explanation.</a:t>
            </a:r>
          </a:p>
          <a:p/>
          <a:p>
            <a:r>
              <a:t>AUDIENCE SHOULD: Accept that memory systems are production reality, so the rest of the deck explains how they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Break the mental model. Users think they talk to a pink LLM bubble; architects know a context assembly step sits in front.</a:t>
            </a:r>
          </a:p>
          <a:p/>
          <a:p>
            <a:r>
              <a:t>TRANSCRIPT SUPPORT: “We might think that we're asking the question to this pink bubble, which is an LLM… In between that, there's some more steps that's happening.”</a:t>
            </a:r>
          </a:p>
          <a:p/>
          <a:p>
            <a:r>
              <a:t>AUDIENCE SHOULD: Shift from “chatbot magic” to “context engineering.”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Define working memory as the active context window — prompt + history + system role — before any long-term store is involved.</a:t>
            </a:r>
          </a:p>
          <a:p/>
          <a:p>
            <a:r>
              <a:t>TRANSCRIPT SUPPORT: “the user prompt, the current chat history, and the system prompt are the basic components that will be fed into this working memory.” Elon Musk system-prompt example.</a:t>
            </a:r>
          </a:p>
          <a:p/>
          <a:p>
            <a:r>
              <a:t>AUDIENCE SHOULD: Be able to name the three inputs to working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Pause on this line. Without persistence, “memory” is only the in-flight chat buffer.</a:t>
            </a:r>
          </a:p>
          <a:p/>
          <a:p>
            <a:r>
              <a:t>TRANSCRIPT SUPPORT: “this session is ephemeral, which means that nothing here will get saved unless you manually save them in a database… We're literally just making an LLM call right here.”</a:t>
            </a:r>
          </a:p>
          <a:p/>
          <a:p>
            <a:r>
              <a:t>AUDIENCE SHOULD: Feel the fragility of session-only agents — and want a better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Use the e-commerce agent example. Current chat history ≠ business memory.</a:t>
            </a:r>
          </a:p>
          <a:p/>
          <a:p>
            <a:r>
              <a:t>TRANSCRIPT SUPPORT: Session “does not know anything about your product stocks… previous purchase history, your customers' taste… any complaints in the past.”</a:t>
            </a:r>
          </a:p>
          <a:p/>
          <a:p>
            <a:r>
              <a:t>AUDIENCE SHOULD: See concrete failure modes of memory-less agents in customer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Introduce the stack as three complementary long-term layers feeding working memory.</a:t>
            </a:r>
          </a:p>
          <a:p/>
          <a:p>
            <a:r>
              <a:t>TRANSCRIPT SUPPORT: “there are three main pillars… procedural memory, semantic memory, and episodic memory.”</a:t>
            </a:r>
          </a:p>
          <a:p/>
          <a:p>
            <a:r>
              <a:t>AUDIENCE SHOULD: Hold the three-part model before diving into each pillar.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Procedural memory is policy-as-memory — how to act, not what happened.</a:t>
            </a:r>
          </a:p>
          <a:p/>
          <a:p>
            <a:r>
              <a:t>TRANSCRIPT SUPPORT: Angry-customer apology skill; “habit you want to teach”; saved as files / skill.md.</a:t>
            </a:r>
          </a:p>
          <a:p/>
          <a:p>
            <a:r>
              <a:t>AUDIENCE SHOULD: Distinguish skills/procedures from RAG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Drive the contrast hard: “what is true” vs “what happened when.”</a:t>
            </a:r>
          </a:p>
          <a:p/>
          <a:p>
            <a:r>
              <a:t>TRANSCRIPT SUPPORT: Semantic = durable facts/user profile; Episodic = dated events/timeline/past chat history; e-commerce examples for episodic.</a:t>
            </a:r>
          </a:p>
          <a:p/>
          <a:p>
            <a:r>
              <a:t>AUDIENCE SHOULD: Stop treating “vector memory” as one bucket.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Famous brands may already live in training data or web search; everyone else must persist profile facts.</a:t>
            </a:r>
          </a:p>
          <a:p/>
          <a:p>
            <a:r>
              <a:t>TRANSCRIPT SUPPORT: Walmart contrast; “foundational large language model does not know who you are, you need to save some durable facts… in a database.”</a:t>
            </a:r>
          </a:p>
          <a:p/>
          <a:p>
            <a:r>
              <a:t>AUDIENCE SHOULD: Treat company/customer profiles as first-class memory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Surface the two hard numbers from the talk. Overloading context is expensive, slow, and less accurate.</a:t>
            </a:r>
          </a:p>
          <a:p/>
          <a:p>
            <a:r>
              <a:t>TRANSCRIPT SUPPORT: “context window for most LLMs is roughly 1 million tokens”; “if K is five, then it's looking for the top five most relevant pieces.”</a:t>
            </a:r>
          </a:p>
          <a:p/>
          <a:p>
            <a:r>
              <a:t>AUDIENCE SHOULD: Internalize why RAG exists economically and operationally.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Explain embeddings simply: text → vectors → similarity → top-K into the prompt.</a:t>
            </a:r>
          </a:p>
          <a:p/>
          <a:p>
            <a:r>
              <a:t>TRANSCRIPT SUPPORT: Vector store as embedded arrays; “computers cannot process text… only process numbers”; turning words into lists of numbers; similarity search = RAG.</a:t>
            </a:r>
          </a:p>
          <a:p/>
          <a:p>
            <a:r>
              <a:t>AUDIENCE SHOULD: Connect vector DBs to the memory story without drowning in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This is the efficiency thesis: raw history is necessary but not sufficient for every turn.</a:t>
            </a:r>
          </a:p>
          <a:p/>
          <a:p>
            <a:r>
              <a:t>TRANSCRIPT SUPPORT: “you don't want the AI agent to always search these kind of information from an episodic memory because that's just a huge database… You want some kind of durable summarized facts.”</a:t>
            </a:r>
          </a:p>
          <a:p/>
          <a:p>
            <a:r>
              <a:t>AUDIENCE SHOULD: Anticipate consolidation as the missing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Walk the pipeline. Without a gate, summarization just duplicates storage.</a:t>
            </a:r>
          </a:p>
          <a:p/>
          <a:p>
            <a:r>
              <a:t>TRANSCRIPT SUPPORT: Summarize at a frequency into semantic memory; gate after certain chats (20 / 100); summarizer agent; token savings and speed; editable memories in ChatGPT/Claude.</a:t>
            </a:r>
          </a:p>
          <a:p/>
          <a:p>
            <a:r>
              <a:t>AUDIENCE SHOULD: See consolidation as a designed control loop, not continuous dump.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Close on the full system: four layers working together as a context layer on top of interaction.</a:t>
            </a:r>
          </a:p>
          <a:p/>
          <a:p>
            <a:r>
              <a:t>TRANSCRIPT SUPPORT: Closing synthesis — record efficiently, summarize into core semantic memory, keep episodic timeline, define behavioral skills; “memory that will be added as a context layer.”</a:t>
            </a:r>
          </a:p>
          <a:p/>
          <a:p>
            <a:r>
              <a:t>AUDIENCE SHOULD: Leave with a repeatable architecture checklist they can apply to their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1097280"/>
            <a:ext cx="1645920" cy="1645920"/>
          </a:xfrm>
          <a:prstGeom prst="ellipse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2377440"/>
            <a:ext cx="1005840" cy="1005840"/>
          </a:xfrm>
          <a:prstGeom prst="ellipse">
            <a:avLst/>
          </a:prstGeom>
          <a:solidFill>
            <a:srgbClr val="008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0" y="3108960"/>
            <a:ext cx="640080" cy="64008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023360"/>
            <a:ext cx="822960" cy="822960"/>
          </a:xfrm>
          <a:prstGeom prst="ellipse">
            <a:avLst/>
          </a:prstGeom>
          <a:solidFill>
            <a:srgbClr val="14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868680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Your AI already remembers you.
Here’s the architecture behind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8686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00C2A8"/>
                </a:solidFill>
                <a:latin typeface="Calibri"/>
              </a:rPr>
              <a:t>Working · Procedural · Semantic · Episodic Memory for 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8686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A9BAB"/>
                </a:solidFill>
                <a:latin typeface="Calibri"/>
              </a:rPr>
              <a:t>Based on Sean’s AI Stories  ·  ~12 min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164592" cy="219456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96012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You’re already using an agent memory system — without realizing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572000"/>
            <a:ext cx="9601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DD0E1"/>
                </a:solidFill>
                <a:latin typeface="Calibri"/>
              </a:rPr>
              <a:t>Ask who you are, what you asked last week, what your company does — it knows.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81628"/>
                </a:solidFill>
                <a:latin typeface="Calibri"/>
              </a:rPr>
              <a:t>A user prompt never hits the LLM alone.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2286000" cy="123444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User Prompt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71800" y="2743200"/>
            <a:ext cx="320040" cy="365760"/>
          </a:xfrm>
          <a:prstGeom prst="rightArrow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2377440"/>
            <a:ext cx="2286000" cy="123444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69748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Working Memory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15000" y="2743200"/>
            <a:ext cx="320040" cy="365760"/>
          </a:xfrm>
          <a:prstGeom prst="rightArrow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377440"/>
            <a:ext cx="2286000" cy="123444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69748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LLM / Q&amp;A Agent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41080" y="2743200"/>
            <a:ext cx="320040" cy="365760"/>
          </a:xfrm>
          <a:prstGeom prst="rightArrow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0" y="2377440"/>
            <a:ext cx="2286000" cy="123444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2697480"/>
            <a:ext cx="2286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0">
                <a:solidFill>
                  <a:srgbClr val="0F2A44"/>
                </a:solidFill>
                <a:latin typeface="Calibri"/>
              </a:rPr>
              <a:t>▸  We imagine a direct chat with the model.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2A44"/>
                </a:solidFill>
                <a:latin typeface="Calibri"/>
              </a:rPr>
              <a:t>▸  Context is assembled before generation.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2A44"/>
                </a:solidFill>
                <a:latin typeface="Calibri"/>
              </a:rPr>
              <a:t>▸  Memory design decides what enters that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81628"/>
                </a:solidFill>
                <a:latin typeface="Calibri"/>
              </a:rPr>
              <a:t>Working memory is the agent’s context RAM.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383280" cy="329184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4519" y="2148840"/>
            <a:ext cx="914400" cy="91440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2331720"/>
            <a:ext cx="914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08162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User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31920"/>
            <a:ext cx="2926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4DD0E1"/>
                </a:solidFill>
                <a:latin typeface="Calibri"/>
              </a:rPr>
              <a:t>The live question
entering the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329184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23560" y="2148840"/>
            <a:ext cx="914400" cy="91440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331720"/>
            <a:ext cx="914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08162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4612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Chat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931920"/>
            <a:ext cx="2926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4DD0E1"/>
                </a:solidFill>
                <a:latin typeface="Calibri"/>
              </a:rPr>
              <a:t>Everything said
in this conversation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828800"/>
            <a:ext cx="3383280" cy="329184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72599" y="2148840"/>
            <a:ext cx="914400" cy="91440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599" y="2331720"/>
            <a:ext cx="914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08162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246120"/>
            <a:ext cx="29260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System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931920"/>
            <a:ext cx="29260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4DD0E1"/>
                </a:solidFill>
                <a:latin typeface="Calibri"/>
              </a:rPr>
              <a:t>Role and rules
shaping the reply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828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0" b="1">
                <a:solidFill>
                  <a:srgbClr val="00C2A8"/>
                </a:solidFill>
                <a:latin typeface="Calibr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8755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This session is ephemeral… we’re literally just making an LLM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93776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8A9BAB"/>
                </a:solidFill>
                <a:latin typeface="Calibri"/>
              </a:rPr>
              <a:t>— Shawn, on AI agent sessions without a memory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663440"/>
            <a:ext cx="1371600" cy="7315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81628"/>
                </a:solidFill>
                <a:latin typeface="Calibri"/>
              </a:rPr>
              <a:t>Ephemeral sessions forget what makes service personal.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789920" cy="91440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64592" cy="9144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2286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0C2A8"/>
                </a:solidFill>
                <a:latin typeface="Calibri"/>
              </a:rPr>
              <a:t>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Product stocks and catalog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10789920" cy="914400"/>
          </a:xfrm>
          <a:prstGeom prst="roundRect">
            <a:avLst/>
          </a:prstGeom>
          <a:solidFill>
            <a:srgbClr val="14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164592" cy="9144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26079"/>
            <a:ext cx="2286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0C2A8"/>
                </a:solidFill>
                <a:latin typeface="Calibri"/>
              </a:rPr>
              <a:t>Purchases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7180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Prior order and delivery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79"/>
            <a:ext cx="10789920" cy="91440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840479"/>
            <a:ext cx="164592" cy="9144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39"/>
            <a:ext cx="2286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0C2A8"/>
                </a:solidFill>
                <a:latin typeface="Calibri"/>
              </a:rPr>
              <a:t>Taste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023359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Customer preferences over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92040"/>
            <a:ext cx="10789920" cy="914400"/>
          </a:xfrm>
          <a:prstGeom prst="roundRect">
            <a:avLst/>
          </a:prstGeom>
          <a:solidFill>
            <a:srgbClr val="14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892040"/>
            <a:ext cx="164592" cy="9144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29200"/>
            <a:ext cx="22860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0C2A8"/>
                </a:solidFill>
                <a:latin typeface="Calibri"/>
              </a:rPr>
              <a:t>Conflict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074920"/>
            <a:ext cx="7315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Past complaints and disputes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81628"/>
                </a:solidFill>
                <a:latin typeface="Calibri"/>
              </a:rPr>
              <a:t>Three pillars make working memory complete.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554480"/>
            <a:ext cx="4114800" cy="109728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0" y="1828800"/>
            <a:ext cx="4114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>
                <a:solidFill>
                  <a:srgbClr val="081628"/>
                </a:solidFill>
                <a:latin typeface="Calibri"/>
              </a:rPr>
              <a:t>Working Memory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91840"/>
            <a:ext cx="3383280" cy="237744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3017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>
                <a:solidFill>
                  <a:srgbClr val="00C2A8"/>
                </a:solidFill>
                <a:latin typeface="Calibri"/>
              </a:rPr>
              <a:t>Procedural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30175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How to act
Skills &amp; habits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651760"/>
            <a:ext cx="109728" cy="64008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20" y="3291840"/>
            <a:ext cx="3383280" cy="2377440"/>
          </a:xfrm>
          <a:prstGeom prst="roundRect">
            <a:avLst/>
          </a:prstGeom>
          <a:solidFill>
            <a:srgbClr val="14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566160"/>
            <a:ext cx="3017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>
                <a:solidFill>
                  <a:srgbClr val="00C2A8"/>
                </a:solidFill>
                <a:latin typeface="Calibri"/>
              </a:rPr>
              <a:t>Semantic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297680"/>
            <a:ext cx="30175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What is true
Durable facts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651760"/>
            <a:ext cx="109728" cy="64008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3291840"/>
            <a:ext cx="3383280" cy="237744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566160"/>
            <a:ext cx="3017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>
                <a:solidFill>
                  <a:srgbClr val="00C2A8"/>
                </a:solidFill>
                <a:latin typeface="Calibri"/>
              </a:rPr>
              <a:t>Episodic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297680"/>
            <a:ext cx="30175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What happened
Dated 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0" y="2651760"/>
            <a:ext cx="109728" cy="64008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81628"/>
                </a:solidFill>
                <a:latin typeface="Calibri"/>
              </a:rPr>
              <a:t>Procedural memory teaches agents how to behave.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4754880" cy="420624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206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0C2A8"/>
                </a:solidFill>
                <a:latin typeface="Calibri"/>
              </a:rPr>
              <a:t>Think of it as habit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420624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Not a fact to recall.
A procedure to follow
when a situation appears.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737360"/>
            <a:ext cx="5760720" cy="4206240"/>
          </a:xfrm>
          <a:prstGeom prst="roundRect">
            <a:avLst/>
          </a:prstGeom>
          <a:solidFill>
            <a:srgbClr val="14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21031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▸  Encodes behavior under pressure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▸  Often shipped as markdown skills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▸  Example: apologize when a customer is angry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▸  Feeds working memory as skill.md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▸  Separate from event logs and facts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81628"/>
                </a:solidFill>
                <a:latin typeface="Calibri"/>
              </a:rPr>
              <a:t>Semantic stores truth. Episodic stores the timeline.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47548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394960" cy="82296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94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>
                <a:solidFill>
                  <a:srgbClr val="081628"/>
                </a:solidFill>
                <a:latin typeface="Calibri"/>
              </a:rPr>
              <a:t>Semantic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▸  Durable facts and profiles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▸  Company, brand, products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▸  Stable customer identity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▸  Retrieved via RAG / top-K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▸  Condensed for reuse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4754880"/>
          </a:xfrm>
          <a:prstGeom prst="roundRect">
            <a:avLst/>
          </a:prstGeom>
          <a:solidFill>
            <a:srgbClr val="14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394960" cy="822960"/>
          </a:xfrm>
          <a:prstGeom prst="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394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>
                <a:solidFill>
                  <a:srgbClr val="081628"/>
                </a:solidFill>
                <a:latin typeface="Calibri"/>
              </a:rPr>
              <a:t>Episodic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6634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▸  Dated events and activities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▸  Past chat histories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▸  Purchases, deliveries, complaints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▸  Living log after each reply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▸  Too large to search every turn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828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0" b="1">
                <a:solidFill>
                  <a:srgbClr val="00C2A8"/>
                </a:solidFill>
                <a:latin typeface="Calibr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Because the foundational model does not know who you are, you need to save durable 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8A9BAB"/>
                </a:solidFill>
                <a:latin typeface="Calibri"/>
              </a:rPr>
              <a:t>— Shawn, on semantic memory for unknown brands and builders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754880"/>
            <a:ext cx="1371600" cy="7315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81628"/>
                </a:solidFill>
                <a:latin typeface="Calibri"/>
              </a:rPr>
              <a:t>Selective retrieval beats stuffing the whole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212080" cy="420624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212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600" b="1">
                <a:solidFill>
                  <a:srgbClr val="00C2A8"/>
                </a:solidFill>
                <a:latin typeface="Calibri"/>
              </a:rPr>
              <a:t>~1M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6634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tokens ≈ common LLM
context window ceiling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212080" cy="4206240"/>
          </a:xfrm>
          <a:prstGeom prst="roundRect">
            <a:avLst/>
          </a:prstGeom>
          <a:solidFill>
            <a:srgbClr val="14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103120"/>
            <a:ext cx="52120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600" b="1">
                <a:solidFill>
                  <a:srgbClr val="4DD0E1"/>
                </a:solidFill>
                <a:latin typeface="Calibri"/>
              </a:rPr>
              <a:t>Top-5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657600"/>
            <a:ext cx="46634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if K = 5, RAG feeds only
the most relevant chunks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81628"/>
                </a:solidFill>
                <a:latin typeface="Calibri"/>
              </a:rPr>
              <a:t>RAG turns meaning into searchable numbers.</a:t>
            </a:r>
          </a:p>
        </p:txBody>
      </p:sp>
      <p:sp>
        <p:nvSpPr>
          <p:cNvPr id="4" name="Oval 3"/>
          <p:cNvSpPr/>
          <p:nvPr/>
        </p:nvSpPr>
        <p:spPr>
          <a:xfrm>
            <a:off x="1051560" y="1737360"/>
            <a:ext cx="1005840" cy="10058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81628"/>
                </a:solidFill>
                <a:latin typeface="Calibri"/>
              </a:rPr>
              <a:t>Text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86000" y="2011680"/>
            <a:ext cx="365760" cy="365760"/>
          </a:xfrm>
          <a:prstGeom prst="rightArrow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37560" y="1737360"/>
            <a:ext cx="1005840" cy="1005840"/>
          </a:xfrm>
          <a:prstGeom prst="ellipse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292608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81628"/>
                </a:solidFill>
                <a:latin typeface="Calibri"/>
              </a:rPr>
              <a:t>Embeddings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72000" y="2011680"/>
            <a:ext cx="365760" cy="365760"/>
          </a:xfrm>
          <a:prstGeom prst="rightArrow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23559" y="1737360"/>
            <a:ext cx="1005840" cy="10058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92608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81628"/>
                </a:solidFill>
                <a:latin typeface="Calibri"/>
              </a:rPr>
              <a:t>Vector Store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58000" y="2011680"/>
            <a:ext cx="365760" cy="365760"/>
          </a:xfrm>
          <a:prstGeom prst="rightArrow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09560" y="1737360"/>
            <a:ext cx="1005840" cy="1005840"/>
          </a:xfrm>
          <a:prstGeom prst="ellipse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92608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81628"/>
                </a:solidFill>
                <a:latin typeface="Calibri"/>
              </a:rPr>
              <a:t>Similarity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44000" y="2011680"/>
            <a:ext cx="365760" cy="365760"/>
          </a:xfrm>
          <a:prstGeom prst="rightArrow">
            <a:avLst/>
          </a:prstGeom>
          <a:solidFill>
            <a:srgbClr val="5A6B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95560" y="1737360"/>
            <a:ext cx="1005840" cy="10058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2926080"/>
            <a:ext cx="20116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81628"/>
                </a:solidFill>
                <a:latin typeface="Calibri"/>
              </a:rPr>
              <a:t>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3192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</a:pPr>
            <a:r>
              <a:rPr sz="2000" b="0">
                <a:solidFill>
                  <a:srgbClr val="0F2A44"/>
                </a:solidFill>
                <a:latin typeface="Calibri"/>
              </a:rPr>
              <a:t>▸  Computers process numbers, not documents</a:t>
            </a:r>
          </a:p>
          <a:p>
            <a:pPr>
              <a:spcBef>
                <a:spcPts val="800"/>
              </a:spcBef>
            </a:pPr>
            <a:r>
              <a:rPr sz="2000" b="0">
                <a:solidFill>
                  <a:srgbClr val="0F2A44"/>
                </a:solidFill>
                <a:latin typeface="Calibri"/>
              </a:rPr>
              <a:t>▸  Each word becomes a numeric vector</a:t>
            </a:r>
          </a:p>
          <a:p>
            <a:pPr>
              <a:spcBef>
                <a:spcPts val="800"/>
              </a:spcBef>
            </a:pPr>
            <a:r>
              <a:rPr sz="2000" b="0">
                <a:solidFill>
                  <a:srgbClr val="0F2A44"/>
                </a:solidFill>
                <a:latin typeface="Calibri"/>
              </a:rPr>
              <a:t>▸  Similarity search selects relevant facts</a:t>
            </a:r>
          </a:p>
          <a:p>
            <a:pPr>
              <a:spcBef>
                <a:spcPts val="800"/>
              </a:spcBef>
            </a:pPr>
            <a:r>
              <a:rPr sz="2000" b="0">
                <a:solidFill>
                  <a:srgbClr val="0F2A44"/>
                </a:solidFill>
                <a:latin typeface="Calibri"/>
              </a:rPr>
              <a:t>▸  Only those facts enter working memory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828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0" b="1">
                <a:solidFill>
                  <a:srgbClr val="00C2A8"/>
                </a:solidFill>
                <a:latin typeface="Calibr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You don’t want the agent always searching a huge episodic database of everything that happened.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9601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8A9BAB"/>
                </a:solidFill>
                <a:latin typeface="Calibri"/>
              </a:rPr>
              <a:t>— Shawn, on why efficient systems prefer durable summarized 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754880"/>
            <a:ext cx="1371600" cy="73152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081628"/>
                </a:solidFill>
                <a:latin typeface="Calibri"/>
              </a:rPr>
              <a:t>A consolidation gate turns noisy history into facts.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2651760" cy="2926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00C2A8"/>
                </a:solidFill>
                <a:latin typeface="Calibri"/>
              </a:rPr>
              <a:t>Episodic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2377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Every chat &amp;
activity append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0400" y="2834640"/>
            <a:ext cx="201168" cy="320040"/>
          </a:xfrm>
          <a:prstGeom prst="rightArrow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651760" cy="292608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0116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081628"/>
                </a:solidFill>
                <a:latin typeface="Calibri"/>
              </a:rPr>
              <a:t>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926080"/>
            <a:ext cx="2377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081628"/>
                </a:solidFill>
                <a:latin typeface="Calibri"/>
              </a:rPr>
              <a:t>After N chats
or activities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26480" y="2834640"/>
            <a:ext cx="201168" cy="320040"/>
          </a:xfrm>
          <a:prstGeom prst="rightArrow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645920"/>
            <a:ext cx="2651760" cy="2926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00C2A8"/>
                </a:solidFill>
                <a:latin typeface="Calibri"/>
              </a:rPr>
              <a:t>Summarizer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2377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Compress what
matters most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52560" y="2834640"/>
            <a:ext cx="201168" cy="320040"/>
          </a:xfrm>
          <a:prstGeom prst="rightArrow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81160" y="1645920"/>
            <a:ext cx="2651760" cy="292608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20116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00C2A8"/>
                </a:solidFill>
                <a:latin typeface="Calibri"/>
              </a:rPr>
              <a:t>Semantic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926080"/>
            <a:ext cx="2377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Durable facts
for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0F2A44"/>
                </a:solidFill>
                <a:latin typeface="Calibri"/>
              </a:rPr>
              <a:t>Gate examples from the talk: consolidate after ~20 conversations — or ~100 activities.
Result: lower token spend, faster tools, editable core memories (ChatGPT / Claude pattern).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Build memory as a context layer — not a chat log.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515600" cy="7315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508760"/>
            <a:ext cx="457200" cy="45720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7276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816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36192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Working memory = prompt + history + system role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40280"/>
            <a:ext cx="10515600" cy="7315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377440"/>
            <a:ext cx="457200" cy="45720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4144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8162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04872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Procedural memory encodes skills and habits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08960"/>
            <a:ext cx="10515600" cy="7315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3246120"/>
            <a:ext cx="457200" cy="45720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1012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8162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273552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Semantic memory holds durable facts via 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10515600" cy="7315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4114800"/>
            <a:ext cx="457200" cy="45720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178807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81628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142231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Episodic memory is the dated activity timeline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46320"/>
            <a:ext cx="10515600" cy="73152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4983480"/>
            <a:ext cx="457200" cy="45720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04748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81628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010912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Gate consolidation to keep tokens fast and cheap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