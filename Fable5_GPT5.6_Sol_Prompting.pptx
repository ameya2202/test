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635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22C55E"/>
                </a:solidFill>
                <a:latin typeface="Calibri"/>
              </a:rPr>
              <a:t>THE AI DAILY BRIEF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How to Get the Most Out of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Fable 5 &amp; GPT-5.6 Sol</a:t>
            </a:r>
          </a:p>
          <a:p>
            <a:pPr>
              <a:spcBef>
                <a:spcPts val="1600"/>
              </a:spcBef>
            </a:pPr>
            <a:r>
              <a:rPr sz="1600" b="0" i="0">
                <a:solidFill>
                  <a:srgbClr val="C7D2E5"/>
                </a:solidFill>
                <a:latin typeface="Calibri"/>
              </a:rPr>
              <a:t>New prompting patterns for frontier models: boundaries, iterative steering, matching compute to the task, and looping until it hits the bar.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0">
                <a:solidFill>
                  <a:srgbClr val="5B6374"/>
                </a:solidFill>
                <a:latin typeface="Calibri"/>
              </a:rPr>
              <a:t>Source: The AI Daily Brief  |  Runtime 23:00  |  Published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2C55E"/>
                </a:solidFill>
                <a:latin typeface="Calibri"/>
              </a:rPr>
              <a:t>THE SETUP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New models demand new ways of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A new class of models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Fable 5 and GPT-5.6 Sol are now in wide use after long early-access periods.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Benchmarks can't capture it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The real gains come from trial, error, and shared tips — not scorecards.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Common threads across both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Similar patterns emerge for Sol and Fable, hinting at new interaction norms.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More power, more consequence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The stronger the model, the more your prompting habits help or hurt.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2C55E"/>
                </a:solidFill>
                <a:latin typeface="Calibri"/>
              </a:rPr>
              <a:t>TIP 1 · ERIC PROVENCAL (CODEX)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Set boundaries for tenacious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i="0">
                <a:solidFill>
                  <a:srgbClr val="5B6374"/>
                </a:solidFill>
                <a:latin typeface="Calibri"/>
              </a:rPr>
              <a:t>5.6 Sol is more tenacious and thorough. Boundaries are the few instructions that stop it from creating extra work or taking actions you didn't intend.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10881360" cy="32918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76200" cy="32918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101498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1800" b="1" i="0">
                <a:solidFill>
                  <a:srgbClr val="141B2E"/>
                </a:solidFill>
                <a:latin typeface="Calibri"/>
              </a:rPr>
              <a:t>Keep approved dates &amp; budget figures unchanged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1800" b="1" i="0">
                <a:solidFill>
                  <a:srgbClr val="141B2E"/>
                </a:solidFill>
                <a:latin typeface="Calibri"/>
              </a:rPr>
              <a:t>Use only the supplied sources</a:t>
            </a:r>
            <a:r>
              <a:rPr sz="1800" b="0" i="0">
                <a:solidFill>
                  <a:srgbClr val="5B6374"/>
                </a:solidFill>
                <a:latin typeface="Calibri"/>
              </a:rPr>
              <a:t> — stops internet rabbit-holes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1800" b="1" i="0">
                <a:solidFill>
                  <a:srgbClr val="141B2E"/>
                </a:solidFill>
                <a:latin typeface="Calibri"/>
              </a:rPr>
              <a:t>Flag missing information instead of guessing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1800" b="1" i="0">
                <a:solidFill>
                  <a:srgbClr val="141B2E"/>
                </a:solidFill>
                <a:latin typeface="Calibri"/>
              </a:rPr>
              <a:t>Keep recommendations within the stated budget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1800" b="1" i="0">
                <a:solidFill>
                  <a:srgbClr val="141B2E"/>
                </a:solidFill>
                <a:latin typeface="Calibri"/>
              </a:rPr>
              <a:t>Prepare the message as a draft — don't send it</a:t>
            </a:r>
            <a:r>
              <a:rPr sz="1800" b="0" i="0">
                <a:solidFill>
                  <a:srgbClr val="5B6374"/>
                </a:solidFill>
                <a:latin typeface="Calibri"/>
              </a:rPr>
              <a:t> — avoids costly premature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2C55E"/>
                </a:solidFill>
                <a:latin typeface="Calibri"/>
              </a:rPr>
              <a:t>TIP 2 · INTERACTION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Iterate and steer instead of fire-and-forget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Follow up to refine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“keep the opening more direct,” “move this part,” “keep the evidence.”</a:t>
            </a:r>
          </a:p>
          <a:p>
            <a:pPr>
              <a:spcAft>
                <a:spcPts val="15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Steer mid-run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Send a message while it works to change direction or add a detail.</a:t>
            </a:r>
          </a:p>
          <a:p>
            <a:pPr>
              <a:spcAft>
                <a:spcPts val="15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Queue for later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Save a follow-up that waits until the current run finishes.</a:t>
            </a:r>
          </a:p>
          <a:p>
            <a:pPr>
              <a:spcAft>
                <a:spcPts val="15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Lower collaboration latency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Real-time steering matters more as models get more capable.</a:t>
            </a:r>
          </a:p>
          <a:p>
            <a:pPr>
              <a:spcAft>
                <a:spcPts val="15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Chat vs. Work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Different prompting best-practices now exist for each surface.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2C55E"/>
                </a:solidFill>
                <a:latin typeface="Calibri"/>
              </a:rPr>
              <a:t>TIP 3 · GPT-5.6 BEST PRACTICES (OLLIE LEEMAN)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Match the compute to the 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12080" cy="2286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21208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Dial 1 · Model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754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41B2E"/>
                </a:solidFill>
                <a:latin typeface="Calibri"/>
              </a:rPr>
              <a:t>Sol: </a:t>
            </a:r>
            <a:r>
              <a:rPr sz="1500" b="0" i="0">
                <a:solidFill>
                  <a:srgbClr val="5B6374"/>
                </a:solidFill>
                <a:latin typeface="Calibri"/>
              </a:rPr>
              <a:t>the hardest problems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41B2E"/>
                </a:solidFill>
                <a:latin typeface="Calibri"/>
              </a:rPr>
              <a:t>Terra: </a:t>
            </a:r>
            <a:r>
              <a:rPr sz="1500" b="0" i="0">
                <a:solidFill>
                  <a:srgbClr val="5B6374"/>
                </a:solidFill>
                <a:latin typeface="Calibri"/>
              </a:rPr>
              <a:t>everyday business work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41B2E"/>
                </a:solidFill>
                <a:latin typeface="Calibri"/>
              </a:rPr>
              <a:t>Luna: </a:t>
            </a:r>
            <a:r>
              <a:rPr sz="1500" b="0" i="0">
                <a:solidFill>
                  <a:srgbClr val="5B6374"/>
                </a:solidFill>
                <a:latin typeface="Calibri"/>
              </a:rPr>
              <a:t>cheap, fast tasks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212080" cy="2286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521208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10512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Calibri"/>
              </a:rPr>
              <a:t>Dial 2 · Thinking effort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4754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41B2E"/>
                </a:solidFill>
                <a:latin typeface="Calibri"/>
              </a:rPr>
              <a:t>6 levels: </a:t>
            </a:r>
            <a:r>
              <a:rPr sz="1500" b="0" i="0">
                <a:solidFill>
                  <a:srgbClr val="5B6374"/>
                </a:solidFill>
                <a:latin typeface="Calibri"/>
              </a:rPr>
              <a:t>from none to max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41B2E"/>
                </a:solidFill>
                <a:latin typeface="Calibri"/>
              </a:rPr>
              <a:t>Advice: </a:t>
            </a:r>
            <a:r>
              <a:rPr sz="1500" b="0" i="0">
                <a:solidFill>
                  <a:srgbClr val="5B6374"/>
                </a:solidFill>
                <a:latin typeface="Calibri"/>
              </a:rPr>
              <a:t>start at last setting, test one lower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41B2E"/>
                </a:solidFill>
                <a:latin typeface="Calibri"/>
              </a:rPr>
              <a:t>Max: </a:t>
            </a:r>
            <a:r>
              <a:rPr sz="1500" b="0" i="0">
                <a:solidFill>
                  <a:srgbClr val="5B6374"/>
                </a:solidFill>
                <a:latin typeface="Calibri"/>
              </a:rPr>
              <a:t>save for genuinely hardest problems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1600" b="1" i="0">
                <a:solidFill>
                  <a:srgbClr val="141B2E"/>
                </a:solidFill>
                <a:latin typeface="Calibri"/>
              </a:rPr>
              <a:t>Delete repeated instructions</a:t>
            </a:r>
            <a:r>
              <a:rPr sz="1600" b="0" i="0">
                <a:solidFill>
                  <a:srgbClr val="5B6374"/>
                </a:solidFill>
                <a:latin typeface="Calibri"/>
              </a:rPr>
              <a:t> — state each rule once — raised scores 10-15%, cut tokens up to 66%.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1600" b="1" i="0">
                <a:solidFill>
                  <a:srgbClr val="141B2E"/>
                </a:solidFill>
                <a:latin typeface="Calibri"/>
              </a:rPr>
              <a:t>Recheck brevity rules</a:t>
            </a:r>
            <a:r>
              <a:rPr sz="1600" b="0" i="0">
                <a:solidFill>
                  <a:srgbClr val="5B6374"/>
                </a:solidFill>
                <a:latin typeface="Calibri"/>
              </a:rPr>
              <a:t> — 5.6 already defaults shorter; blanket “keep it brief” can cut too much.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1600" b="1" i="0">
                <a:solidFill>
                  <a:srgbClr val="141B2E"/>
                </a:solidFill>
                <a:latin typeface="Calibri"/>
              </a:rPr>
              <a:t>Concrete beats abstract tone</a:t>
            </a:r>
            <a:r>
              <a:rPr sz="1600" b="0" i="0">
                <a:solidFill>
                  <a:srgbClr val="5B6374"/>
                </a:solidFill>
                <a:latin typeface="Calibri"/>
              </a:rPr>
              <a:t> — spell out behavior, not adjectives like “friendly.”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2C55E"/>
                </a:solidFill>
                <a:latin typeface="Calibri"/>
              </a:rPr>
              <a:t>TIP 4 · CONTEXT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Feed the model richer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The ramblers shall inherit the earth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unstructured voice dictation often beats terse typed notes.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Use native dictation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ChatGPT's built-in dictation is best-in-class — no extra tools needed.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Context is the bottleneck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more information usually helps the model do its job well.</a:t>
            </a:r>
          </a:p>
          <a:p>
            <a:pPr>
              <a:spcAft>
                <a:spcPts val="16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Onboard the model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build a personal context portfolio so it can truly collaborate.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2C55E"/>
                </a:solidFill>
                <a:latin typeface="Calibri"/>
              </a:rPr>
              <a:t>THEME · CHRISTINE ZHU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Be more ambitious: move up the value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i="0">
                <a:solidFill>
                  <a:srgbClr val="5B6374"/>
                </a:solidFill>
                <a:latin typeface="Calibri"/>
              </a:rPr>
              <a:t>Don't just clear the “dopamine backlog.” Push AI into high-leverage work (concept from Shreyas Doshi).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3611880" cy="32918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3611880" cy="6400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3154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OPTICS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3154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41B2E"/>
                </a:solidFill>
                <a:latin typeface="Calibri"/>
              </a:rPr>
              <a:t>Claude as Autopilot</a:t>
            </a:r>
          </a:p>
          <a:p>
            <a:pPr>
              <a:spcBef>
                <a:spcPts val="800"/>
              </a:spcBef>
            </a:pPr>
            <a:r>
              <a:rPr sz="1500" b="0" i="0">
                <a:solidFill>
                  <a:srgbClr val="5B6374"/>
                </a:solidFill>
                <a:latin typeface="Calibri"/>
              </a:rPr>
              <a:t>Automate ruthlessly — scheduled status updates, packaged for each audience.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468880"/>
            <a:ext cx="3611880" cy="32918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468880"/>
            <a:ext cx="3611880" cy="6400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496312"/>
            <a:ext cx="3154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46120"/>
            <a:ext cx="3154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41B2E"/>
                </a:solidFill>
                <a:latin typeface="Calibri"/>
              </a:rPr>
              <a:t>Claude as Co-pilot</a:t>
            </a:r>
          </a:p>
          <a:p>
            <a:pPr>
              <a:spcBef>
                <a:spcPts val="800"/>
              </a:spcBef>
            </a:pPr>
            <a:r>
              <a:rPr sz="1500" b="0" i="0">
                <a:solidFill>
                  <a:srgbClr val="5B6374"/>
                </a:solidFill>
                <a:latin typeface="Calibri"/>
              </a:rPr>
              <a:t>Weekly context dumps, planning skills, customer-theme analysis — ask for judgment.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468880"/>
            <a:ext cx="3611880" cy="32918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468880"/>
            <a:ext cx="3611880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496312"/>
            <a:ext cx="3154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46120"/>
            <a:ext cx="3154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41B2E"/>
                </a:solidFill>
                <a:latin typeface="Calibri"/>
              </a:rPr>
              <a:t>Claude as Sparring partner</a:t>
            </a:r>
          </a:p>
          <a:p>
            <a:pPr>
              <a:spcBef>
                <a:spcPts val="800"/>
              </a:spcBef>
            </a:pPr>
            <a:r>
              <a:rPr sz="1500" b="0" i="0">
                <a:solidFill>
                  <a:srgbClr val="5B6374"/>
                </a:solidFill>
                <a:latin typeface="Calibri"/>
              </a:rPr>
              <a:t>Hardest-to-start work: new bets, narratives, strategy. Onboard with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2C55E"/>
                </a:solidFill>
                <a:latin typeface="Calibri"/>
              </a:rPr>
              <a:t>FIELD GUIDE · TARIQ (CLAUDE CODE)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Find your unknowns — the map is not the territory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1900" b="1" i="0">
                <a:solidFill>
                  <a:srgbClr val="141B2E"/>
                </a:solidFill>
                <a:latin typeface="Calibri"/>
              </a:rPr>
              <a:t>Known knowns</a:t>
            </a:r>
            <a:r>
              <a:rPr sz="1900" b="0" i="0">
                <a:solidFill>
                  <a:srgbClr val="5B6374"/>
                </a:solidFill>
                <a:latin typeface="Calibri"/>
              </a:rPr>
              <a:t> — what you put in the prompt — what you tell the agent you want.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1900" b="1" i="0">
                <a:solidFill>
                  <a:srgbClr val="141B2E"/>
                </a:solidFill>
                <a:latin typeface="Calibri"/>
              </a:rPr>
              <a:t>Known unknowns</a:t>
            </a:r>
            <a:r>
              <a:rPr sz="1900" b="0" i="0">
                <a:solidFill>
                  <a:srgbClr val="5B6374"/>
                </a:solidFill>
                <a:latin typeface="Calibri"/>
              </a:rPr>
              <a:t> — what you haven't figured out yet, but know you haven't.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1900" b="1" i="0">
                <a:solidFill>
                  <a:srgbClr val="141B2E"/>
                </a:solidFill>
                <a:latin typeface="Calibri"/>
              </a:rPr>
              <a:t>Unknown knowns</a:t>
            </a:r>
            <a:r>
              <a:rPr sz="1900" b="0" i="0">
                <a:solidFill>
                  <a:srgbClr val="5B6374"/>
                </a:solidFill>
                <a:latin typeface="Calibri"/>
              </a:rPr>
              <a:t> — so obvious you'd never write it, but you'd recognize it instantly.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1900" b="1" i="0">
                <a:solidFill>
                  <a:srgbClr val="141B2E"/>
                </a:solidFill>
                <a:latin typeface="Calibri"/>
              </a:rPr>
              <a:t>Unknown unknowns</a:t>
            </a:r>
            <a:r>
              <a:rPr sz="1900" b="0" i="0">
                <a:solidFill>
                  <a:srgbClr val="5B6374"/>
                </a:solidFill>
                <a:latin typeface="Calibri"/>
              </a:rPr>
              <a:t> — what you haven't even considered.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80560"/>
            <a:ext cx="10881360" cy="17373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480560"/>
            <a:ext cx="76200" cy="17373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617720"/>
            <a:ext cx="10149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141B2E"/>
                </a:solidFill>
                <a:latin typeface="Calibri"/>
              </a:rPr>
              <a:t>How to reduce them: </a:t>
            </a:r>
            <a:r>
              <a:rPr sz="1700" b="0" i="0">
                <a:solidFill>
                  <a:srgbClr val="5B6374"/>
                </a:solidFill>
                <a:latin typeface="Calibri"/>
              </a:rPr>
              <a:t>give context about your starting point; run a “blind-spot pass” to learn what you don't know; brainstorm &amp; prototype early (e.g., “show me 4 wildly different design directions so I can react”).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2C55E"/>
                </a:solidFill>
                <a:latin typeface="Calibri"/>
              </a:rPr>
              <a:t>META PROMPTS · DANIEL MIESSLER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Rerun these on every big intelligence jump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Harness optimization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audit what your setup believes about you and close the gaps (context hygiene).</a:t>
            </a:r>
          </a:p>
          <a:p>
            <a:pPr>
              <a:spcAft>
                <a:spcPts val="15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Self-model audit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flag where the system optimizes for who you said you were vs. who you are now.</a:t>
            </a:r>
          </a:p>
          <a:p>
            <a:pPr>
              <a:spcAft>
                <a:spcPts val="15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Go really big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life/work optimization prompts — priorities, projects, even ikigai.</a:t>
            </a:r>
          </a:p>
          <a:p>
            <a:pPr>
              <a:spcAft>
                <a:spcPts val="150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▸ </a:t>
            </a:r>
            <a:r>
              <a:rPr sz="2000" b="1" i="0">
                <a:solidFill>
                  <a:srgbClr val="141B2E"/>
                </a:solidFill>
                <a:latin typeface="Calibri"/>
              </a:rPr>
              <a:t>Take the vibe temperature</a:t>
            </a:r>
            <a:r>
              <a:rPr sz="2000" b="0" i="0">
                <a:solidFill>
                  <a:srgbClr val="5B6374"/>
                </a:solidFill>
                <a:latin typeface="Calibri"/>
              </a:rPr>
              <a:t> — big-scope prompts reveal how a new model reasons about hard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2C55E"/>
                </a:solidFill>
                <a:latin typeface="Calibri"/>
              </a:rPr>
              <a:t>TECHNIQUE · MATT SCHUMER + CLAUDE DEVS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Loop it until it hits the 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i="0">
                <a:solidFill>
                  <a:srgbClr val="5B6374"/>
                </a:solidFill>
                <a:latin typeface="Calibri"/>
              </a:rPr>
              <a:t>Don't use adjectives — give a hard, checkable bar for “done,” then loop: build, check, find the biggest gap, close it, repeat. The model never decides it's finished.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2651760" cy="3108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2651760" cy="76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834640"/>
            <a:ext cx="2249424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141B2E"/>
                </a:solidFill>
                <a:latin typeface="Calibri"/>
              </a:rPr>
              <a:t>Turn-based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5B6374"/>
                </a:solidFill>
                <a:latin typeface="Calibri"/>
              </a:rPr>
              <a:t>You direct each turn; stops when task done or more context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2651760"/>
            <a:ext cx="2651760" cy="3108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0712" y="2651760"/>
            <a:ext cx="2651760" cy="76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2249424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141B2E"/>
                </a:solidFill>
                <a:latin typeface="Calibri"/>
              </a:rPr>
              <a:t>Goal-based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5B6374"/>
                </a:solidFill>
                <a:latin typeface="Calibri"/>
              </a:rPr>
              <a:t>Evaluator checks your success criteria until met or max turns.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2651760"/>
            <a:ext cx="2651760" cy="3108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651760"/>
            <a:ext cx="2651760" cy="76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834640"/>
            <a:ext cx="2249424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141B2E"/>
                </a:solidFill>
                <a:latin typeface="Calibri"/>
              </a:rPr>
              <a:t>Time-based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5B6374"/>
                </a:solidFill>
                <a:latin typeface="Calibri"/>
              </a:rPr>
              <a:t>Runs on an interval; good for recurring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51976" y="2651760"/>
            <a:ext cx="2651760" cy="3108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51976" y="2651760"/>
            <a:ext cx="2651760" cy="76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4" y="2834640"/>
            <a:ext cx="2249424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141B2E"/>
                </a:solidFill>
                <a:latin typeface="Calibri"/>
              </a:rPr>
              <a:t>Proactive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5B6374"/>
                </a:solidFill>
                <a:latin typeface="Calibri"/>
              </a:rPr>
              <a:t>Triggered by an event/schedule; runs itself until you turn it 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22C55E"/>
                </a:solidFill>
                <a:latin typeface="Calibri"/>
              </a:rPr>
              <a:t>KEY TAKEAWAYS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Two things to do with every model leap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→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Unlearn old habits  </a:t>
            </a:r>
            <a:r>
              <a:rPr sz="1800" b="0" i="0">
                <a:solidFill>
                  <a:srgbClr val="C7D2E5"/>
                </a:solidFill>
                <a:latin typeface="Calibri"/>
              </a:rPr>
              <a:t>Find where prompting for old models no longer helps — or actively hurts.</a:t>
            </a:r>
          </a:p>
          <a:p>
            <a:pPr>
              <a:spcAft>
                <a:spcPts val="180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→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Discover new patterns  </a:t>
            </a:r>
            <a:r>
              <a:rPr sz="1800" b="0" i="0">
                <a:solidFill>
                  <a:srgbClr val="C7D2E5"/>
                </a:solidFill>
                <a:latin typeface="Calibri"/>
              </a:rPr>
              <a:t>Chase the differentiated capabilities: steering, unknowns, loops.</a:t>
            </a:r>
          </a:p>
          <a:p>
            <a:pPr>
              <a:spcAft>
                <a:spcPts val="180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→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Ratchet up ambition  </a:t>
            </a:r>
            <a:r>
              <a:rPr sz="1800" b="0" i="0">
                <a:solidFill>
                  <a:srgbClr val="C7D2E5"/>
                </a:solidFill>
                <a:latin typeface="Calibri"/>
              </a:rPr>
              <a:t>Assume no limits; try the biggest tasks to find where the limits really are.</a:t>
            </a:r>
          </a:p>
          <a:p>
            <a:pPr>
              <a:spcAft>
                <a:spcPts val="1800"/>
              </a:spcAft>
            </a:pPr>
            <a:r>
              <a:rPr sz="2200" b="1" i="0">
                <a:solidFill>
                  <a:srgbClr val="22C55E"/>
                </a:solidFill>
                <a:latin typeface="Calibri"/>
              </a:rPr>
              <a:t>→ 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New relationship with work  </a:t>
            </a:r>
            <a:r>
              <a:rPr sz="1800" b="0" i="0">
                <a:solidFill>
                  <a:srgbClr val="C7D2E5"/>
                </a:solidFill>
                <a:latin typeface="Calibri"/>
              </a:rPr>
              <a:t>The unlock isn't doing the same work faster — it's new categories of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